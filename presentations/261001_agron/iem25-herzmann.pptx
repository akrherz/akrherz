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Pacifico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E297B6-4080-4B11-B711-0CF86F9BEF06}">
  <a:tblStyle styleId="{DFE297B6-4080-4B11-B711-0CF86F9BEF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acifico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09f0dfc0d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09f0dfc0d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no such thing as a free lunch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09f0dfc0d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09f0dfc0d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87e21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87e21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09f0dfc0d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09f0dfc0d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09f0dfc0d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409f0dfc0d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09f0dfc0d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09f0dfc0d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09f0dfc0d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09f0dfc0d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09f0dfc0d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09f0dfc0d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bf9e0406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bf9e0406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f9e0406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bf9e0406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bf9e0406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bf9e0406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bf9e0406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bf9e0406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bf9e0406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bf9e0406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4a03b196615e6a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4a03b196615e6a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4a03b196615e6a3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4a03b196615e6a3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4a03b196615e6a3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4a03b196615e6a3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4a03b196615e6a3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4a03b196615e6a3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4a03b196615e6a3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4a03b196615e6a3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3370ca6a22b955b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3370ca6a22b955b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bf9e0406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bf9e0406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3370ca6a22b955b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h3370ca6a22b955b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3370ca6a22b955b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3370ca6a22b955b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3370ca6a22b955b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h3370ca6a22b955b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3370ca6a22b955b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h3370ca6a22b955b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3370ca6a22b955b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h3370ca6a22b955b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bf9e0406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bf9e0406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bf9e0406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bf9e0406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Upper left picture (left to right). Shane Searcy (NWS Des Moines), Darone Jones (NWS Manager), daryl (IEM)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bf9e0406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bf9e0406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Upper right picture (left to right). Andy Kula (NWS Des Moines), daryl (IEM), John McLaughlin (KCCI-TV)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bf9e0406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bf9e0406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bf9e0406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bf9e0406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5bfb26f3adea902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h5bfb26f3adea902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5bfb26f3adea902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5bfb26f3adea902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_AND_TWO_COLUMNS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177988" y="1152475"/>
            <a:ext cx="291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3310200" y="1152475"/>
            <a:ext cx="272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6"/>
          <p:cNvSpPr txBox="1"/>
          <p:nvPr>
            <p:ph idx="3" type="body"/>
          </p:nvPr>
        </p:nvSpPr>
        <p:spPr>
          <a:xfrm>
            <a:off x="6245613" y="1152475"/>
            <a:ext cx="272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  <a:defRPr sz="2800">
                <a:solidFill>
                  <a:srgbClr val="FFFF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  <a:defRPr sz="2800">
                <a:solidFill>
                  <a:srgbClr val="FFFF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  <a:defRPr sz="2800">
                <a:solidFill>
                  <a:srgbClr val="FFFF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  <a:defRPr sz="2800">
                <a:solidFill>
                  <a:srgbClr val="FFFF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  <a:defRPr sz="2800">
                <a:solidFill>
                  <a:srgbClr val="FFFF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  <a:defRPr sz="2800">
                <a:solidFill>
                  <a:srgbClr val="FFFF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  <a:defRPr sz="2800">
                <a:solidFill>
                  <a:srgbClr val="FFFF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  <a:defRPr sz="2800">
                <a:solidFill>
                  <a:srgbClr val="FFFF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  <a:defRPr sz="2800">
                <a:solidFill>
                  <a:srgbClr val="FFFF00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large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90027" y="164250"/>
            <a:ext cx="750279" cy="572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Relationship Id="rId4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Relationship Id="rId4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jpg"/><Relationship Id="rId4" Type="http://schemas.openxmlformats.org/officeDocument/2006/relationships/image" Target="../media/image24.jpg"/><Relationship Id="rId5" Type="http://schemas.openxmlformats.org/officeDocument/2006/relationships/image" Target="../media/image1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jpg"/><Relationship Id="rId4" Type="http://schemas.openxmlformats.org/officeDocument/2006/relationships/image" Target="../media/image5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Relationship Id="rId4" Type="http://schemas.openxmlformats.org/officeDocument/2006/relationships/image" Target="../media/image34.png"/><Relationship Id="rId5" Type="http://schemas.openxmlformats.org/officeDocument/2006/relationships/image" Target="../media/image31.jpg"/><Relationship Id="rId6" Type="http://schemas.openxmlformats.org/officeDocument/2006/relationships/image" Target="../media/image2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Relationship Id="rId4" Type="http://schemas.openxmlformats.org/officeDocument/2006/relationships/image" Target="../media/image29.jpg"/><Relationship Id="rId5" Type="http://schemas.openxmlformats.org/officeDocument/2006/relationships/image" Target="../media/image30.png"/><Relationship Id="rId6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5" Type="http://schemas.openxmlformats.org/officeDocument/2006/relationships/image" Target="../media/image3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gif"/><Relationship Id="rId4" Type="http://schemas.openxmlformats.org/officeDocument/2006/relationships/hyperlink" Target="http://www.youtube.com/watch?v=yXnkzeCU3bE" TargetMode="External"/><Relationship Id="rId5" Type="http://schemas.openxmlformats.org/officeDocument/2006/relationships/image" Target="../media/image36.jpg"/><Relationship Id="rId6" Type="http://schemas.openxmlformats.org/officeDocument/2006/relationships/image" Target="../media/image5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jpg"/><Relationship Id="rId4" Type="http://schemas.openxmlformats.org/officeDocument/2006/relationships/image" Target="../media/image48.png"/><Relationship Id="rId9" Type="http://schemas.openxmlformats.org/officeDocument/2006/relationships/image" Target="../media/image50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Relationship Id="rId7" Type="http://schemas.openxmlformats.org/officeDocument/2006/relationships/image" Target="../media/image42.png"/><Relationship Id="rId8" Type="http://schemas.openxmlformats.org/officeDocument/2006/relationships/image" Target="../media/image4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230550" y="1280075"/>
            <a:ext cx="8520600" cy="6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Iowa Environmental Mesonet</a:t>
            </a:r>
            <a:endParaRPr sz="3600"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1998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25 Years of Bliss</a:t>
            </a:r>
            <a:endParaRPr sz="4400">
              <a:solidFill>
                <a:srgbClr val="FF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an observation…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78000" y="3707900"/>
            <a:ext cx="29172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July 2026, see </a:t>
            </a:r>
            <a:r>
              <a:rPr lang="en">
                <a:solidFill>
                  <a:srgbClr val="FF9900"/>
                </a:solidFill>
              </a:rPr>
              <a:t>Kyle</a:t>
            </a:r>
            <a:r>
              <a:rPr lang="en"/>
              <a:t> in picture giving me an award. Free food not pictured…</a:t>
            </a:r>
            <a:endParaRPr/>
          </a:p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3310200" y="3707875"/>
            <a:ext cx="27204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Shortly thereafter, s</a:t>
            </a:r>
            <a:r>
              <a:rPr lang="en"/>
              <a:t>ee </a:t>
            </a:r>
            <a:r>
              <a:rPr lang="en">
                <a:solidFill>
                  <a:srgbClr val="FF9900"/>
                </a:solidFill>
              </a:rPr>
              <a:t>Kyle</a:t>
            </a:r>
            <a:r>
              <a:rPr lang="en"/>
              <a:t> in email asking me to do something.</a:t>
            </a:r>
            <a:endParaRPr/>
          </a:p>
        </p:txBody>
      </p:sp>
      <p:sp>
        <p:nvSpPr>
          <p:cNvPr id="70" name="Google Shape;70;p15"/>
          <p:cNvSpPr txBox="1"/>
          <p:nvPr>
            <p:ph idx="3" type="body"/>
          </p:nvPr>
        </p:nvSpPr>
        <p:spPr>
          <a:xfrm>
            <a:off x="6245625" y="3707875"/>
            <a:ext cx="27204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 2026, see </a:t>
            </a:r>
            <a:r>
              <a:rPr lang="en">
                <a:solidFill>
                  <a:srgbClr val="00FF00"/>
                </a:solidFill>
              </a:rPr>
              <a:t>me</a:t>
            </a:r>
            <a:r>
              <a:rPr lang="en"/>
              <a:t> on the hook for departmental seminar…</a:t>
            </a:r>
            <a:endParaRPr/>
          </a:p>
        </p:txBody>
      </p:sp>
      <p:pic>
        <p:nvPicPr>
          <p:cNvPr id="71" name="Google Shape;71;p15" title="iem_ky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00" y="1744425"/>
            <a:ext cx="2821399" cy="188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4450" y="1744425"/>
            <a:ext cx="2846149" cy="17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m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5650" y="1744426"/>
            <a:ext cx="2786900" cy="155767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2521475" y="2157075"/>
            <a:ext cx="402600" cy="4146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3215204" y="2284975"/>
            <a:ext cx="278100" cy="2868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15"/>
          <p:cNvCxnSpPr>
            <a:stCxn id="74" idx="0"/>
            <a:endCxn id="75" idx="0"/>
          </p:cNvCxnSpPr>
          <p:nvPr/>
        </p:nvCxnSpPr>
        <p:spPr>
          <a:xfrm flipH="1" rot="-5400000">
            <a:off x="2974625" y="1905225"/>
            <a:ext cx="127800" cy="631500"/>
          </a:xfrm>
          <a:prstGeom prst="bentConnector3">
            <a:avLst>
              <a:gd fmla="val -428091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5"/>
          <p:cNvSpPr/>
          <p:nvPr/>
        </p:nvSpPr>
        <p:spPr>
          <a:xfrm>
            <a:off x="513100" y="2093100"/>
            <a:ext cx="360900" cy="3411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570550" y="1870375"/>
            <a:ext cx="640200" cy="6594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15"/>
          <p:cNvCxnSpPr>
            <a:stCxn id="77" idx="0"/>
            <a:endCxn id="78" idx="0"/>
          </p:cNvCxnSpPr>
          <p:nvPr/>
        </p:nvCxnSpPr>
        <p:spPr>
          <a:xfrm rot="-5400000">
            <a:off x="3680800" y="-1116750"/>
            <a:ext cx="222600" cy="6197100"/>
          </a:xfrm>
          <a:prstGeom prst="bentConnector3">
            <a:avLst>
              <a:gd fmla="val 347900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Second, a word from my sponsors…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03300" y="3707925"/>
            <a:ext cx="28698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2001-2003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Dr Dennis Todey</a:t>
            </a:r>
            <a:endParaRPr/>
          </a:p>
        </p:txBody>
      </p:sp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3586875" y="3707900"/>
            <a:ext cx="2621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2003-2018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Dr Ray Arritt</a:t>
            </a:r>
            <a:endParaRPr/>
          </a:p>
        </p:txBody>
      </p:sp>
      <p:sp>
        <p:nvSpPr>
          <p:cNvPr id="87" name="Google Shape;87;p16"/>
          <p:cNvSpPr txBox="1"/>
          <p:nvPr>
            <p:ph idx="3" type="body"/>
          </p:nvPr>
        </p:nvSpPr>
        <p:spPr>
          <a:xfrm>
            <a:off x="6605375" y="3707900"/>
            <a:ext cx="27204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2018-</a:t>
            </a:r>
            <a:r>
              <a:rPr lang="en" sz="1600"/>
              <a:t>∞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Dr Rick Cruse</a:t>
            </a:r>
            <a:endParaRPr sz="1600"/>
          </a:p>
        </p:txBody>
      </p:sp>
      <p:pic>
        <p:nvPicPr>
          <p:cNvPr id="88" name="Google Shape;88;p16" title="arrit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6863" y="889377"/>
            <a:ext cx="2543351" cy="26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title="crus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5378" y="889377"/>
            <a:ext cx="2135310" cy="26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 title="todey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312" y="889363"/>
            <a:ext cx="2706101" cy="26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requested of me for this presentation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152475"/>
            <a:ext cx="496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lots of memes. 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considerable dry wit. 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Interactively show how to use the IEM to make money. 🤷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Show how the sausage gets made. </a:t>
            </a:r>
            <a:r>
              <a:rPr lang="en"/>
              <a:t>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Show YouTube videos ✅ of me 🔴.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There will be 1.5 surprises announced at the end, if the audience behaves.</a:t>
            </a:r>
            <a:endParaRPr/>
          </a:p>
        </p:txBody>
      </p:sp>
      <p:pic>
        <p:nvPicPr>
          <p:cNvPr id="97" name="Google Shape;97;p17" title="festivus-2-450x331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2700" y="1144824"/>
            <a:ext cx="3648350" cy="268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unabridged career summary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3694325"/>
            <a:ext cx="39999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Grew up on a dairy farm in NE Iowa and loathed how bad the 3 day forecast was for baling hay. Figured I would go to ISU and “fix it”.</a:t>
            </a:r>
            <a:endParaRPr/>
          </a:p>
        </p:txBody>
      </p:sp>
      <p:sp>
        <p:nvSpPr>
          <p:cNvPr id="104" name="Google Shape;104;p18"/>
          <p:cNvSpPr txBox="1"/>
          <p:nvPr>
            <p:ph idx="2" type="body"/>
          </p:nvPr>
        </p:nvSpPr>
        <p:spPr>
          <a:xfrm>
            <a:off x="4832400" y="3694325"/>
            <a:ext cx="3999900" cy="10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Built a </a:t>
            </a:r>
            <a:r>
              <a:rPr lang="en"/>
              <a:t>colossal</a:t>
            </a:r>
            <a:r>
              <a:rPr lang="en"/>
              <a:t> archive of environmental data that resides within the middle of a corn field in Iowa.</a:t>
            </a:r>
            <a:endParaRPr/>
          </a:p>
        </p:txBody>
      </p:sp>
      <p:pic>
        <p:nvPicPr>
          <p:cNvPr id="105" name="Google Shape;105;p18" title="foreca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64575"/>
            <a:ext cx="4038150" cy="227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moneybin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1" y="1264575"/>
            <a:ext cx="2974369" cy="22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869450"/>
            <a:ext cx="3999900" cy="14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4"/>
                </a:solidFill>
              </a:rPr>
              <a:t>How it started…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4832400" y="869450"/>
            <a:ext cx="3999900" cy="14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4"/>
                </a:solidFill>
              </a:rPr>
              <a:t>How it is going…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in 2001.</a:t>
            </a:r>
            <a:endParaRPr/>
          </a:p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sharing was not common.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GIS + Meteorology were not friends.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 Gore’s Internet had near real-time data, but hardly anything was archived.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Many entities were building networks to observe things for only their immediate needs, but had no desire to support archival and public usage.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“dot com” bust just happened and our potential “big pot of money” disappeared.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 a “mesonet” was built with </a:t>
            </a:r>
            <a:r>
              <a:rPr lang="en">
                <a:solidFill>
                  <a:srgbClr val="FF0000"/>
                </a:solidFill>
              </a:rPr>
              <a:t>bailing wire and duct tape</a:t>
            </a:r>
            <a:r>
              <a:rPr lang="en"/>
              <a:t>.</a:t>
            </a:r>
            <a:endParaRPr/>
          </a:p>
        </p:txBody>
      </p:sp>
      <p:pic>
        <p:nvPicPr>
          <p:cNvPr id="115" name="Google Shape;115;p19" title="grandp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330766" cy="32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exactly is the IEM?</a:t>
            </a:r>
            <a:endParaRPr/>
          </a:p>
        </p:txBody>
      </p:sp>
      <p:sp>
        <p:nvSpPr>
          <p:cNvPr id="121" name="Google Shape;121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website and/or daryl.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Naming things is hard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“Iowa” , but most data for outside of Iowa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“Environmental”, vague/fancy term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“Mesonet”, unlike 99% mesonets in the wild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Formal Definition: “An ad hoc collection of disparate datasets and half-baked tooling curated over 25 years from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supporting 10s of funded research projects for eternity,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answering every email request I get,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and inability to say no to most anything.”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Most consider it to be “Magic”.</a:t>
            </a:r>
            <a:endParaRPr/>
          </a:p>
        </p:txBody>
      </p:sp>
      <p:pic>
        <p:nvPicPr>
          <p:cNvPr id="122" name="Google Shape;122;p20" title="pepe_silvia_meme_banner.jpg"/>
          <p:cNvPicPr preferRelativeResize="0"/>
          <p:nvPr/>
        </p:nvPicPr>
        <p:blipFill rotWithShape="1">
          <a:blip r:embed="rId3">
            <a:alphaModFix/>
          </a:blip>
          <a:srcRect b="0" l="12604" r="12596" t="0"/>
          <a:stretch/>
        </p:blipFill>
        <p:spPr>
          <a:xfrm>
            <a:off x="311700" y="1152475"/>
            <a:ext cx="4314999" cy="324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IEM ≠ ISU Soil Moisture Network</a:t>
            </a:r>
            <a:endParaRPr/>
          </a:p>
        </p:txBody>
      </p:sp>
      <p:sp>
        <p:nvSpPr>
          <p:cNvPr id="128" name="Google Shape;128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ISU Ag Climate / Soil Moisture Network dates back to the mid 1980s.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Data/products for the network are primarily found on the IEM website.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 folks think I run the soil moisture network, but I am unsure if I do…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IEM’s “success” has been a </a:t>
            </a:r>
            <a:r>
              <a:rPr lang="en"/>
              <a:t>detriment</a:t>
            </a:r>
            <a:r>
              <a:rPr lang="en"/>
              <a:t> to moving the soil moisture network </a:t>
            </a:r>
            <a:r>
              <a:rPr lang="en"/>
              <a:t>forward</a:t>
            </a:r>
            <a:r>
              <a:rPr lang="en"/>
              <a:t>. (</a:t>
            </a:r>
            <a:r>
              <a:rPr i="1" lang="en" sz="1100"/>
              <a:t>note to self: scan room for ISU administrators before saying too much)</a:t>
            </a:r>
            <a:r>
              <a:rPr lang="en"/>
              <a:t>. </a:t>
            </a:r>
            <a:endParaRPr/>
          </a:p>
        </p:txBody>
      </p:sp>
      <p:pic>
        <p:nvPicPr>
          <p:cNvPr id="129" name="Google Shape;129;p21" title="Screenshot from 2026-09-16 13-04-56.png"/>
          <p:cNvPicPr preferRelativeResize="0"/>
          <p:nvPr/>
        </p:nvPicPr>
        <p:blipFill rotWithShape="1">
          <a:blip r:embed="rId3">
            <a:alphaModFix/>
          </a:blip>
          <a:srcRect b="758" l="0" r="0" t="758"/>
          <a:stretch/>
        </p:blipFill>
        <p:spPr>
          <a:xfrm>
            <a:off x="311700" y="1152475"/>
            <a:ext cx="4373576" cy="325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IEM as Scrooge McDuck’s Money Bin</a:t>
            </a:r>
            <a:endParaRPr/>
          </a:p>
        </p:txBody>
      </p:sp>
      <p:sp>
        <p:nvSpPr>
          <p:cNvPr id="135" name="Google Shape;135;p22"/>
          <p:cNvSpPr txBox="1"/>
          <p:nvPr>
            <p:ph idx="2" type="body"/>
          </p:nvPr>
        </p:nvSpPr>
        <p:spPr>
          <a:xfrm>
            <a:off x="4832400" y="3432200"/>
            <a:ext cx="3999900" cy="17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daryl hoards data to generate obscure charts</a:t>
            </a:r>
            <a:r>
              <a:rPr lang="en"/>
              <a:t> and never wants to delete any of it</a:t>
            </a:r>
            <a:r>
              <a:rPr lang="en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daryl monitors all the data, all the time!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AutoNum type="arabicPeriod"/>
            </a:pPr>
            <a:r>
              <a:rPr lang="en">
                <a:solidFill>
                  <a:srgbClr val="00FF00"/>
                </a:solidFill>
              </a:rPr>
              <a:t>d</a:t>
            </a:r>
            <a:r>
              <a:rPr lang="en">
                <a:solidFill>
                  <a:srgbClr val="00FF00"/>
                </a:solidFill>
              </a:rPr>
              <a:t>aryl wants everybody else to swim in the data too.</a:t>
            </a:r>
            <a:endParaRPr>
              <a:solidFill>
                <a:srgbClr val="00FF00"/>
              </a:solidFill>
            </a:endParaRPr>
          </a:p>
        </p:txBody>
      </p:sp>
      <p:pic>
        <p:nvPicPr>
          <p:cNvPr id="136" name="Google Shape;136;p22" title="swi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575" y="754700"/>
            <a:ext cx="4572000" cy="262428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>
            <p:ph idx="2" type="body"/>
          </p:nvPr>
        </p:nvSpPr>
        <p:spPr>
          <a:xfrm>
            <a:off x="-52850" y="3396725"/>
            <a:ext cx="4885200" cy="20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Scrooge enjoyed collecting money for the purpose of swimming in it and not spending it.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Scrooge always knew, to the penny, the bin contents.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AutoNum type="arabicPeriod"/>
            </a:pPr>
            <a:r>
              <a:rPr lang="en">
                <a:solidFill>
                  <a:srgbClr val="FF9900"/>
                </a:solidFill>
              </a:rPr>
              <a:t>Scrooge discouraged anybody else from swimming in his money.</a:t>
            </a:r>
            <a:endParaRPr>
              <a:solidFill>
                <a:srgbClr val="00FF00"/>
              </a:solidFill>
            </a:endParaRPr>
          </a:p>
        </p:txBody>
      </p:sp>
      <p:pic>
        <p:nvPicPr>
          <p:cNvPr id="138" name="Google Shape;138;p22" title="moneybin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175" y="754700"/>
            <a:ext cx="3436385" cy="26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IEM as Open Swim</a:t>
            </a:r>
            <a:endParaRPr/>
          </a:p>
        </p:txBody>
      </p:sp>
      <p:sp>
        <p:nvSpPr>
          <p:cNvPr id="144" name="Google Shape;1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Data ≠ Products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Infrastructure built to support various funded projects is done openly, so anybody else can use it.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Considerable tooling exists to support beginner, advanced, and olympic swimmers</a:t>
            </a:r>
            <a:endParaRPr>
              <a:solidFill>
                <a:srgbClr val="FFFFFF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</a:pPr>
            <a:r>
              <a:rPr lang="en">
                <a:solidFill>
                  <a:srgbClr val="FFFFFF"/>
                </a:solidFill>
              </a:rPr>
              <a:t>Here’s a product/plot, great, I’m done.</a:t>
            </a:r>
            <a:endParaRPr>
              <a:solidFill>
                <a:srgbClr val="FFFFFF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</a:pPr>
            <a:r>
              <a:rPr lang="en">
                <a:solidFill>
                  <a:srgbClr val="FFFFFF"/>
                </a:solidFill>
              </a:rPr>
              <a:t>Oh, nice plot, I want the data behind the plot so that I can make it pretty, OK done.</a:t>
            </a:r>
            <a:endParaRPr>
              <a:solidFill>
                <a:srgbClr val="FFFFFF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</a:pPr>
            <a:r>
              <a:rPr lang="en">
                <a:solidFill>
                  <a:srgbClr val="FFFFFF"/>
                </a:solidFill>
              </a:rPr>
              <a:t>Oh nice data, I want Claude to automate the workflow to generate an updated report each morning. OK done.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daryl actually never learned to swim, so…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45" name="Google Shape;145;p23" title="b1xdu2.jpg"/>
          <p:cNvPicPr preferRelativeResize="0"/>
          <p:nvPr/>
        </p:nvPicPr>
        <p:blipFill rotWithShape="1">
          <a:blip r:embed="rId3">
            <a:alphaModFix/>
          </a:blip>
          <a:srcRect b="1353" l="0" r="0" t="1343"/>
          <a:stretch/>
        </p:blipFill>
        <p:spPr>
          <a:xfrm>
            <a:off x="0" y="1548537"/>
            <a:ext cx="4571999" cy="262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ENOUGH MEMES, I CAME HERE TO SEE </a:t>
            </a:r>
            <a:r>
              <a:rPr lang="en" sz="2220"/>
              <a:t>ACRONYMS</a:t>
            </a:r>
            <a:r>
              <a:rPr lang="en" sz="2220"/>
              <a:t>.</a:t>
            </a:r>
            <a:endParaRPr sz="2220"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177963" y="1152475"/>
            <a:ext cx="291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ASOS 1 Minute Data </a:t>
            </a:r>
            <a:r>
              <a:rPr lang="en" sz="1300"/>
              <a:t>🎉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Bufkit Profiles </a:t>
            </a:r>
            <a:r>
              <a:rPr lang="en" sz="1300"/>
              <a:t>🎉 </a:t>
            </a:r>
            <a:r>
              <a:rPr lang="en" sz="1200"/>
              <a:t>❗</a:t>
            </a:r>
            <a:endParaRPr sz="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CoD Satellite Imagery ❗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CLI Data ❗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Flash Flood Guidance ❗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Global METAR </a:t>
            </a:r>
            <a:r>
              <a:rPr lang="en" sz="1300"/>
              <a:t>🎉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HML (River Stage Forecasts) ❗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Iowa+ Webcams ❗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Local Storm Reports </a:t>
            </a:r>
            <a:r>
              <a:rPr lang="en" sz="1300"/>
              <a:t>🎉 </a:t>
            </a:r>
            <a:r>
              <a:rPr lang="en" sz="1200"/>
              <a:t>❗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MADIS / “HFMETAR” ❗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00"/>
              <a:t>MRMS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00"/>
          </a:p>
        </p:txBody>
      </p:sp>
      <p:sp>
        <p:nvSpPr>
          <p:cNvPr id="152" name="Google Shape;152;p24"/>
          <p:cNvSpPr txBox="1"/>
          <p:nvPr>
            <p:ph idx="2" type="body"/>
          </p:nvPr>
        </p:nvSpPr>
        <p:spPr>
          <a:xfrm>
            <a:off x="3310200" y="1152475"/>
            <a:ext cx="272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200"/>
              <a:t>NCEP F000 Models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200"/>
              <a:t>NEXRAD Level II Live Data </a:t>
            </a:r>
            <a:r>
              <a:rPr lang="en" sz="1300"/>
              <a:t>🎉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200"/>
              <a:t>NLDN (Not Public)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200"/>
              <a:t>NRCS SCAN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200"/>
              <a:t>NWS Text Archive </a:t>
            </a:r>
            <a:r>
              <a:rPr lang="en" sz="1300"/>
              <a:t>🎉 </a:t>
            </a:r>
            <a:r>
              <a:rPr lang="en" sz="1200"/>
              <a:t>❗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NWS “WaWA” Map ❗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PIREPs ❗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Public RWIS Networks </a:t>
            </a:r>
            <a:r>
              <a:rPr lang="en" sz="1300"/>
              <a:t>🎉 </a:t>
            </a:r>
            <a:r>
              <a:rPr lang="en" sz="1200"/>
              <a:t>❗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RADAR Products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RTMA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SHEF HADS/DCP/COOP </a:t>
            </a:r>
            <a:r>
              <a:rPr lang="en" sz="1300"/>
              <a:t>🎉 </a:t>
            </a:r>
            <a:r>
              <a:rPr lang="en" sz="1200"/>
              <a:t>❗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" name="Google Shape;153;p24"/>
          <p:cNvSpPr txBox="1"/>
          <p:nvPr>
            <p:ph idx="3" type="body"/>
          </p:nvPr>
        </p:nvSpPr>
        <p:spPr>
          <a:xfrm>
            <a:off x="6245613" y="1152475"/>
            <a:ext cx="272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SIGMETs  ❗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SPC MCD/Watches/Outlooks </a:t>
            </a:r>
            <a:r>
              <a:rPr lang="en" sz="1300"/>
              <a:t>🎉 </a:t>
            </a:r>
            <a:r>
              <a:rPr lang="en" sz="1200"/>
              <a:t>❗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SMOS Satellite (Midwest)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Soundings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Text MOS </a:t>
            </a:r>
            <a:r>
              <a:rPr lang="en" sz="1300"/>
              <a:t>🎉 </a:t>
            </a:r>
            <a:r>
              <a:rPr lang="en" sz="1200"/>
              <a:t>❗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USCRN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Various Iowa-Only one-offs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VTEC WaWA </a:t>
            </a:r>
            <a:r>
              <a:rPr lang="en" sz="1300"/>
              <a:t>🎉 </a:t>
            </a:r>
            <a:r>
              <a:rPr lang="en" sz="1200"/>
              <a:t>❗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15minute Fisher/Porter</a:t>
            </a:r>
            <a:endParaRPr sz="1200"/>
          </a:p>
        </p:txBody>
      </p:sp>
      <p:sp>
        <p:nvSpPr>
          <p:cNvPr id="154" name="Google Shape;154;p24"/>
          <p:cNvSpPr txBox="1"/>
          <p:nvPr/>
        </p:nvSpPr>
        <p:spPr>
          <a:xfrm>
            <a:off x="397100" y="690775"/>
            <a:ext cx="832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IEM Archives Legend:   [🎉 = Popular]   [❗= Only Known/Usable Archive]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Iowa State’s most trafficked website?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4620625" y="1152475"/>
            <a:ext cx="421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Circa 2019, it was. Assume it still is, you know what assuming does.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250M requests per 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~350K </a:t>
            </a:r>
            <a:r>
              <a:rPr lang="en"/>
              <a:t>unique</a:t>
            </a:r>
            <a:r>
              <a:rPr lang="en"/>
              <a:t> IP address per 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daily max </a:t>
            </a:r>
            <a:r>
              <a:rPr lang="en"/>
              <a:t>requests</a:t>
            </a:r>
            <a:r>
              <a:rPr lang="en"/>
              <a:t> plot shown failed to reach the moon due to a number of CDNs now fronting the IEM, which I have no visibility into.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Did ~1B daily requests shortly after Hurricane Helene (2024).</a:t>
            </a:r>
            <a:endParaRPr/>
          </a:p>
        </p:txBody>
      </p:sp>
      <p:pic>
        <p:nvPicPr>
          <p:cNvPr id="161" name="Google Shape;161;p25" title="t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75" y="1152475"/>
            <a:ext cx="4315826" cy="3236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 title="5bbbf84444eb6-36433000cff4e1efe3de3b40d942a3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7375" y="1697048"/>
            <a:ext cx="2097625" cy="21477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1912050" y="4456300"/>
            <a:ext cx="531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https://mesonet.agron.iastate.edu/usage/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our LLM chatbot overlords think?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4698600" y="3419891"/>
            <a:ext cx="4307100" cy="16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accent4"/>
                </a:solidFill>
                <a:highlight>
                  <a:srgbClr val="1F1F1F"/>
                </a:highlight>
              </a:rPr>
              <a:t>🤖 </a:t>
            </a:r>
            <a:r>
              <a:rPr lang="en" sz="1200">
                <a:solidFill>
                  <a:schemeClr val="accent4"/>
                </a:solidFill>
                <a:highlight>
                  <a:srgbClr val="1F1F1F"/>
                </a:highlight>
              </a:rPr>
              <a:t>Gemini: </a:t>
            </a:r>
            <a:r>
              <a:rPr lang="en" sz="1200">
                <a:highlight>
                  <a:srgbClr val="1F1F1F"/>
                </a:highlight>
              </a:rPr>
              <a:t>The Iowa Environmental Mesonet serves as a </a:t>
            </a:r>
            <a:r>
              <a:rPr b="1" lang="en" sz="1200">
                <a:solidFill>
                  <a:srgbClr val="FFFF00"/>
                </a:solidFill>
                <a:highlight>
                  <a:srgbClr val="1F1F1F"/>
                </a:highlight>
              </a:rPr>
              <a:t>critical</a:t>
            </a:r>
            <a:r>
              <a:rPr lang="en" sz="1200">
                <a:highlight>
                  <a:srgbClr val="1F1F1F"/>
                </a:highlight>
              </a:rPr>
              <a:t> community resource by aggregating and archiving high-resolution meteorological data from diverse networks into free, accessible tools that support </a:t>
            </a:r>
            <a:r>
              <a:rPr b="1" lang="en" sz="1200">
                <a:solidFill>
                  <a:srgbClr val="FFFF00"/>
                </a:solidFill>
                <a:highlight>
                  <a:srgbClr val="1F1F1F"/>
                </a:highlight>
              </a:rPr>
              <a:t>precision agriculture</a:t>
            </a:r>
            <a:r>
              <a:rPr lang="en" sz="1200">
                <a:highlight>
                  <a:srgbClr val="1F1F1F"/>
                </a:highlight>
              </a:rPr>
              <a:t>, academic research, severe weather monitoring, and public safety decision-making across Iowa and beyond.</a:t>
            </a:r>
            <a:endParaRPr sz="1200">
              <a:highlight>
                <a:srgbClr val="1F1F1F"/>
              </a:highlight>
            </a:endParaRPr>
          </a:p>
        </p:txBody>
      </p:sp>
      <p:pic>
        <p:nvPicPr>
          <p:cNvPr id="170" name="Google Shape;170;p26" title="Screenshot from 2026-09-24 12-17-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923" y="753687"/>
            <a:ext cx="6247101" cy="11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/>
        </p:nvSpPr>
        <p:spPr>
          <a:xfrm>
            <a:off x="311700" y="3189970"/>
            <a:ext cx="43869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accent4"/>
                </a:solidFill>
                <a:highlight>
                  <a:srgbClr val="1F1F1F"/>
                </a:highlight>
              </a:rPr>
              <a:t>🤖 </a:t>
            </a:r>
            <a:r>
              <a:rPr lang="en" sz="1200">
                <a:solidFill>
                  <a:schemeClr val="accent4"/>
                </a:solidFill>
              </a:rPr>
              <a:t>Grok:</a:t>
            </a:r>
            <a:r>
              <a:rPr lang="en" sz="1200">
                <a:solidFill>
                  <a:schemeClr val="dk1"/>
                </a:solidFill>
              </a:rPr>
              <a:t> The Iowa Environmental Mesonet website serves as a </a:t>
            </a:r>
            <a:r>
              <a:rPr b="1" lang="en" sz="1200">
                <a:solidFill>
                  <a:srgbClr val="FFFF00"/>
                </a:solidFill>
              </a:rPr>
              <a:t>vital</a:t>
            </a:r>
            <a:r>
              <a:rPr lang="en" sz="1200">
                <a:solidFill>
                  <a:schemeClr val="dk1"/>
                </a:solidFill>
              </a:rPr>
              <a:t> free public hub that aggregates, archives, and freely disseminates high-resolution weather and environmental data from multiple networks, enabling </a:t>
            </a:r>
            <a:r>
              <a:rPr b="1" lang="en" sz="1200">
                <a:solidFill>
                  <a:srgbClr val="FFFF00"/>
                </a:solidFill>
              </a:rPr>
              <a:t>farmers</a:t>
            </a:r>
            <a:r>
              <a:rPr lang="en" sz="1200">
                <a:solidFill>
                  <a:schemeClr val="dk1"/>
                </a:solidFill>
              </a:rPr>
              <a:t>, researchers, agencies, businesses, and the public to make informed decisions on </a:t>
            </a:r>
            <a:r>
              <a:rPr b="1" lang="en" sz="1200">
                <a:solidFill>
                  <a:srgbClr val="FFFF00"/>
                </a:solidFill>
              </a:rPr>
              <a:t>agriculture</a:t>
            </a:r>
            <a:r>
              <a:rPr lang="en" sz="1200">
                <a:solidFill>
                  <a:schemeClr val="dk1"/>
                </a:solidFill>
              </a:rPr>
              <a:t>, emergency management, and climate-related issues across Iowa and beyond.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698600" y="1955878"/>
            <a:ext cx="42657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accent4"/>
                </a:solidFill>
                <a:highlight>
                  <a:srgbClr val="1F1F1F"/>
                </a:highlight>
              </a:rPr>
              <a:t>🤖 </a:t>
            </a:r>
            <a:r>
              <a:rPr lang="en" sz="1200">
                <a:solidFill>
                  <a:srgbClr val="FF9900"/>
                </a:solidFill>
              </a:rPr>
              <a:t>Claude: </a:t>
            </a:r>
            <a:r>
              <a:rPr lang="en" sz="1200">
                <a:solidFill>
                  <a:schemeClr val="dk1"/>
                </a:solidFill>
                <a:highlight>
                  <a:srgbClr val="1F1F1F"/>
                </a:highlight>
              </a:rPr>
              <a:t>The Iowa Environmental Mesonet (IEM) is a </a:t>
            </a:r>
            <a:r>
              <a:rPr b="1" lang="en" sz="1200">
                <a:solidFill>
                  <a:srgbClr val="FFFF00"/>
                </a:solidFill>
                <a:highlight>
                  <a:srgbClr val="1F1F1F"/>
                </a:highlight>
              </a:rPr>
              <a:t>vital</a:t>
            </a:r>
            <a:r>
              <a:rPr lang="en" sz="1200">
                <a:solidFill>
                  <a:schemeClr val="dk1"/>
                </a:solidFill>
                <a:highlight>
                  <a:srgbClr val="1F1F1F"/>
                </a:highlight>
              </a:rPr>
              <a:t> public resource that aggregates and archives weather, climate, and environmental data for Iowa and beyond, supporting researchers, </a:t>
            </a:r>
            <a:r>
              <a:rPr b="1" lang="en" sz="1200">
                <a:solidFill>
                  <a:srgbClr val="FFFF00"/>
                </a:solidFill>
                <a:highlight>
                  <a:srgbClr val="1F1F1F"/>
                </a:highlight>
              </a:rPr>
              <a:t>farmers</a:t>
            </a:r>
            <a:r>
              <a:rPr lang="en" sz="1200">
                <a:solidFill>
                  <a:schemeClr val="dk1"/>
                </a:solidFill>
                <a:highlight>
                  <a:srgbClr val="1F1F1F"/>
                </a:highlight>
              </a:rPr>
              <a:t>, emergency managers, and the public in making informed decisions related to </a:t>
            </a:r>
            <a:r>
              <a:rPr b="1" lang="en" sz="1200">
                <a:solidFill>
                  <a:srgbClr val="FFFF00"/>
                </a:solidFill>
                <a:highlight>
                  <a:srgbClr val="1F1F1F"/>
                </a:highlight>
              </a:rPr>
              <a:t>agriculture</a:t>
            </a:r>
            <a:r>
              <a:rPr lang="en" sz="1200">
                <a:solidFill>
                  <a:schemeClr val="dk1"/>
                </a:solidFill>
                <a:highlight>
                  <a:srgbClr val="1F1F1F"/>
                </a:highlight>
              </a:rPr>
              <a:t>, safety, and climate analysis.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311700" y="1983396"/>
            <a:ext cx="3963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accent4"/>
                </a:solidFill>
                <a:highlight>
                  <a:srgbClr val="1F1F1F"/>
                </a:highlight>
              </a:rPr>
              <a:t>🤖 </a:t>
            </a:r>
            <a:r>
              <a:rPr lang="en" sz="1200">
                <a:solidFill>
                  <a:schemeClr val="accent4"/>
                </a:solidFill>
                <a:highlight>
                  <a:srgbClr val="1F1F1F"/>
                </a:highlight>
              </a:rPr>
              <a:t>Chat GPT: </a:t>
            </a:r>
            <a:r>
              <a:rPr lang="en" sz="1200">
                <a:solidFill>
                  <a:schemeClr val="dk1"/>
                </a:solidFill>
                <a:highlight>
                  <a:srgbClr val="1F1F1F"/>
                </a:highlight>
              </a:rPr>
              <a:t>The Iowa Environmental Mesonet serves its community by providing reliable weather and environmental data that helps people make </a:t>
            </a:r>
            <a:r>
              <a:rPr b="1" lang="en" sz="1200">
                <a:solidFill>
                  <a:schemeClr val="accent6"/>
                </a:solidFill>
                <a:highlight>
                  <a:srgbClr val="1F1F1F"/>
                </a:highlight>
              </a:rPr>
              <a:t>safer</a:t>
            </a:r>
            <a:r>
              <a:rPr lang="en" sz="1200">
                <a:solidFill>
                  <a:schemeClr val="dk1"/>
                </a:solidFill>
                <a:highlight>
                  <a:srgbClr val="1F1F1F"/>
                </a:highlight>
              </a:rPr>
              <a:t>, better-informed decisions.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5 scholarly references to IEM datasets *</a:t>
            </a:r>
            <a:endParaRPr/>
          </a:p>
        </p:txBody>
      </p:sp>
      <p:graphicFrame>
        <p:nvGraphicFramePr>
          <p:cNvPr id="179" name="Google Shape;179;p27"/>
          <p:cNvGraphicFramePr/>
          <p:nvPr/>
        </p:nvGraphicFramePr>
        <p:xfrm>
          <a:off x="704400" y="89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{DFE297B6-4080-4B11-B711-0CF86F9BEF06}</a:tableStyleId>
              </a:tblPr>
              <a:tblGrid>
                <a:gridCol w="1301425"/>
                <a:gridCol w="3080100"/>
                <a:gridCol w="1233825"/>
                <a:gridCol w="1871775"/>
              </a:tblGrid>
              <a:tr h="55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9900"/>
                          </a:solidFill>
                        </a:rPr>
                        <a:t>Abbreviation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9900"/>
                          </a:solidFill>
                        </a:rPr>
                        <a:t>Name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9900"/>
                          </a:solidFill>
                        </a:rPr>
                        <a:t>Count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9900"/>
                          </a:solidFill>
                        </a:rPr>
                        <a:t>28 Sep 2026</a:t>
                      </a:r>
                      <a:br>
                        <a:rPr b="1" lang="en">
                          <a:solidFill>
                            <a:srgbClr val="FF9900"/>
                          </a:solidFill>
                        </a:rPr>
                      </a:br>
                      <a:r>
                        <a:rPr b="1" lang="en">
                          <a:solidFill>
                            <a:srgbClr val="FF9900"/>
                          </a:solidFill>
                        </a:rPr>
                        <a:t>Downloads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ASOS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Airport Weather Data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2.4M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CLIMODAT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Daily Long-term Climate Obs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1.4K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ISUSM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ISU Soil Moisture Network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3.6K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VTEC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NWS Watch, Warnings, Advisories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25.8K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NWSTEXT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NWS Raw Text Products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2.2M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0" name="Google Shape;180;p27"/>
          <p:cNvSpPr txBox="1"/>
          <p:nvPr/>
        </p:nvSpPr>
        <p:spPr>
          <a:xfrm>
            <a:off x="253250" y="4258775"/>
            <a:ext cx="870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“Info Tab” -&gt; “Referenced By” : https://mesonet.agron.iastate.edu/info/refs.php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253250" y="3805950"/>
            <a:ext cx="870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* </a:t>
            </a:r>
            <a:r>
              <a:rPr lang="en" sz="1800">
                <a:solidFill>
                  <a:schemeClr val="dk1"/>
                </a:solidFill>
              </a:rPr>
              <a:t>1,128 Known total as of 24 Sep 2026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Dataset</a:t>
            </a: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 #1 </a:t>
            </a:r>
            <a:r>
              <a:rPr lang="en"/>
              <a:t>Airport weather station data (ASOS)</a:t>
            </a:r>
            <a:endParaRPr/>
          </a:p>
        </p:txBody>
      </p:sp>
      <p:pic>
        <p:nvPicPr>
          <p:cNvPr id="187" name="Google Shape;187;p28" title="AMW_yearl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9350"/>
            <a:ext cx="4101750" cy="41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makes the IEM archive of public airport weather data unique / popular 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Global scale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Simple download portal emitting CSV/Excel, simple on-demand APIs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Fast services / reduced latency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Many different “autoplots” generate summaries, wind roses are very unique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NCEI targets FORTRAN users,</a:t>
            </a:r>
            <a:br>
              <a:rPr lang="en"/>
            </a:br>
            <a:r>
              <a:rPr lang="en"/>
              <a:t>IEM targets this guy:</a:t>
            </a:r>
            <a:endParaRPr/>
          </a:p>
        </p:txBody>
      </p:sp>
      <p:pic>
        <p:nvPicPr>
          <p:cNvPr id="190" name="Google Shape;190;p28" title="meathead.jpg"/>
          <p:cNvPicPr preferRelativeResize="0"/>
          <p:nvPr/>
        </p:nvPicPr>
        <p:blipFill rotWithShape="1">
          <a:blip r:embed="rId4">
            <a:alphaModFix/>
          </a:blip>
          <a:srcRect b="42036" l="0" r="0" t="0"/>
          <a:stretch/>
        </p:blipFill>
        <p:spPr>
          <a:xfrm>
            <a:off x="6103188" y="3645175"/>
            <a:ext cx="1458325" cy="126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Dataset #2 </a:t>
            </a:r>
            <a:r>
              <a:rPr lang="en"/>
              <a:t>”Climodat” / NWS COOP</a:t>
            </a:r>
            <a:endParaRPr/>
          </a:p>
        </p:txBody>
      </p:sp>
      <p:pic>
        <p:nvPicPr>
          <p:cNvPr id="196" name="Google Shape;196;p29" title="ap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800" y="1152475"/>
            <a:ext cx="4137574" cy="31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311700" y="1152475"/>
            <a:ext cx="3999900" cy="17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ISU Project dating back to the 1960s(?)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Drs Shaw, Carlson, Taylor, </a:t>
            </a:r>
            <a:r>
              <a:rPr lang="en"/>
              <a:t>Todey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dataset is once daily high+low air temp, precipitation, snowfall and snow depth with some sites back to the 1800s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Generally matches “official” data, *cough*</a:t>
            </a:r>
            <a:endParaRPr/>
          </a:p>
        </p:txBody>
      </p:sp>
      <p:sp>
        <p:nvSpPr>
          <p:cNvPr id="198" name="Google Shape;198;p29"/>
          <p:cNvSpPr txBox="1"/>
          <p:nvPr/>
        </p:nvSpPr>
        <p:spPr>
          <a:xfrm>
            <a:off x="270150" y="2952975"/>
            <a:ext cx="408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IEM gap fills using reanalysis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Auxiliary</a:t>
            </a:r>
            <a:r>
              <a:rPr lang="en" sz="1600">
                <a:solidFill>
                  <a:schemeClr val="dk1"/>
                </a:solidFill>
              </a:rPr>
              <a:t> values point sampled from model products, like rad, soil temp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IEM has a workflow not dependant on NCEI/ACIS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IEM generates spatial aggregates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Dataset #3 </a:t>
            </a:r>
            <a:r>
              <a:rPr lang="en"/>
              <a:t>ISU Soil Moisture Network</a:t>
            </a:r>
            <a:endParaRPr/>
          </a:p>
        </p:txBody>
      </p:sp>
      <p:sp>
        <p:nvSpPr>
          <p:cNvPr id="204" name="Google Shape;204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all its warts, Iowa State operates a </a:t>
            </a:r>
            <a:r>
              <a:rPr lang="en"/>
              <a:t>unique-for-Iowa ag-focused observation network with data back to the 1980s.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you need solar radiation and soil temperature observations in Iowa, you have nearly no alternatives.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0" title="CHAI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75" y="1152475"/>
            <a:ext cx="4499000" cy="337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 title="isuag_county_4inch_so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5813" y="2921450"/>
            <a:ext cx="2613074" cy="19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Dataset #4 </a:t>
            </a:r>
            <a:r>
              <a:rPr lang="en"/>
              <a:t>NWS Watch,Warnings, and Advisories</a:t>
            </a:r>
            <a:endParaRPr/>
          </a:p>
        </p:txBody>
      </p:sp>
      <p:pic>
        <p:nvPicPr>
          <p:cNvPr id="212" name="Google Shape;212;p31" title="Screenshot from 2026-09-29 12-01-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25" y="1152475"/>
            <a:ext cx="4322058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Yet another dataset exclusively curated by the IEM due to daryl’s high pain tolerance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Common email “Why are you the only one with this data archived?”.  Reply: “Well…”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Next common email “How do you have more events than NWS published bulk stats claim?” Reply: “Well…”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Tooling and products very popular with the Ag consultants sector to find damaging weather events many days/weeks/months after they </a:t>
            </a:r>
            <a:r>
              <a:rPr lang="en"/>
              <a:t>occurred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Dataset #5 </a:t>
            </a:r>
            <a:r>
              <a:rPr lang="en"/>
              <a:t>NWS Raw Text</a:t>
            </a:r>
            <a:endParaRPr/>
          </a:p>
        </p:txBody>
      </p:sp>
      <p:pic>
        <p:nvPicPr>
          <p:cNvPr id="219" name="Google Shape;219;p32" title="ma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25" y="1152475"/>
            <a:ext cx="4501324" cy="34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NWS text product archive dating back into the early 1980s with stable URLs, gasp.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More complete than “official” / inaccessible archives at NCEI.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Goldmine for AI/ML weather forecast trainers.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Plenty of Ag related usages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View historical forecasts and forecast narratives.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View warning text, local storm reports, and event summaries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 number of places have Ag related text products written by the NWS.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9146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10 Blissful Things</a:t>
            </a:r>
            <a:endParaRPr/>
          </a:p>
        </p:txBody>
      </p:sp>
      <p:pic>
        <p:nvPicPr>
          <p:cNvPr id="226" name="Google Shape;226;p33" title="to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400" y="1802225"/>
            <a:ext cx="5887193" cy="30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#10 </a:t>
            </a:r>
            <a:r>
              <a:rPr lang="en"/>
              <a:t>Daily Erosion Project (DEP)</a:t>
            </a:r>
            <a:r>
              <a:rPr lang="en"/>
              <a:t>.</a:t>
            </a:r>
            <a:endParaRPr/>
          </a:p>
        </p:txBody>
      </p:sp>
      <p:sp>
        <p:nvSpPr>
          <p:cNvPr id="232" name="Google Shape;232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Drs Brian Gelder and Rick Cruse project since 2002 estimating sheet/rill soil erosion by water.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DEP project needs have driven many IEM datasets, tooling, and infrastructure.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Majority of daryl’s funding comes from DEP 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IEM as </a:t>
            </a:r>
            <a:r>
              <a:rPr lang="en"/>
              <a:t>infrastructure</a:t>
            </a:r>
            <a:r>
              <a:rPr lang="en"/>
              <a:t> to make modelling efforts like DEP possible.</a:t>
            </a:r>
            <a:endParaRPr/>
          </a:p>
        </p:txBody>
      </p:sp>
      <p:pic>
        <p:nvPicPr>
          <p:cNvPr id="233" name="Google Shape;233;p34" title="mapp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00" y="1162825"/>
            <a:ext cx="4527601" cy="3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#9 </a:t>
            </a:r>
            <a:r>
              <a:rPr lang="en"/>
              <a:t>Barnyard Animals</a:t>
            </a:r>
            <a:endParaRPr/>
          </a:p>
        </p:txBody>
      </p:sp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178000" y="3023875"/>
            <a:ext cx="2917200" cy="15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My favorite cow named “1 East Side” now adorns a heavily </a:t>
            </a:r>
            <a:r>
              <a:rPr lang="en"/>
              <a:t>trafficked</a:t>
            </a:r>
            <a:r>
              <a:rPr lang="en"/>
              <a:t> webapp called “IEM Cow”.  Some folks refer to the entire website as “IEM Cow”...</a:t>
            </a:r>
            <a:endParaRPr/>
          </a:p>
        </p:txBody>
      </p:sp>
      <p:sp>
        <p:nvSpPr>
          <p:cNvPr id="240" name="Google Shape;240;p35"/>
          <p:cNvSpPr txBox="1"/>
          <p:nvPr>
            <p:ph idx="2" type="body"/>
          </p:nvPr>
        </p:nvSpPr>
        <p:spPr>
          <a:xfrm>
            <a:off x="3310213" y="3023875"/>
            <a:ext cx="2720400" cy="15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Dr Ranae Dietzel contributed a cow picture which adorns the IEM HTTP 404 status (file not found) page.</a:t>
            </a:r>
            <a:endParaRPr/>
          </a:p>
        </p:txBody>
      </p:sp>
      <p:sp>
        <p:nvSpPr>
          <p:cNvPr id="241" name="Google Shape;241;p35"/>
          <p:cNvSpPr txBox="1"/>
          <p:nvPr>
            <p:ph idx="3" type="body"/>
          </p:nvPr>
        </p:nvSpPr>
        <p:spPr>
          <a:xfrm>
            <a:off x="6245625" y="3023875"/>
            <a:ext cx="2720400" cy="15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Another random IEM app is called “IEM Raccoon”, which was just an excuse to use this picture.</a:t>
            </a:r>
            <a:endParaRPr/>
          </a:p>
        </p:txBody>
      </p:sp>
      <p:pic>
        <p:nvPicPr>
          <p:cNvPr id="242" name="Google Shape;242;p35" title="co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07" y="1152482"/>
            <a:ext cx="2917200" cy="175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 title="cow40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0200" y="1152475"/>
            <a:ext cx="2693162" cy="180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5" title="raccoo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8525" y="1154563"/>
            <a:ext cx="231457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#8 </a:t>
            </a:r>
            <a:r>
              <a:rPr lang="en"/>
              <a:t>Enjoy the Irony</a:t>
            </a:r>
            <a:endParaRPr/>
          </a:p>
        </p:txBody>
      </p:sp>
      <p:sp>
        <p:nvSpPr>
          <p:cNvPr id="250" name="Google Shape;250;p36"/>
          <p:cNvSpPr txBox="1"/>
          <p:nvPr>
            <p:ph idx="2" type="body"/>
          </p:nvPr>
        </p:nvSpPr>
        <p:spPr>
          <a:xfrm>
            <a:off x="448675" y="10672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Hiding all kinds of data / functionality in broad daylight under an </a:t>
            </a:r>
            <a:r>
              <a:rPr lang="en"/>
              <a:t>innocuous</a:t>
            </a:r>
            <a:r>
              <a:rPr lang="en"/>
              <a:t> name like Iowa Environmental Mesonet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Seeing #circleref dataflows within the NWS with NWS data sourced from IEM.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Noticing folks having the desire and willingness to explore convoluted rabbit holes, memorize autoplot numbers and share obscure plots on social media.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sense of wonder folks express in emails for a .edu website.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operational SLA demands folks express for a .edu website.</a:t>
            </a:r>
            <a:endParaRPr/>
          </a:p>
        </p:txBody>
      </p:sp>
      <p:pic>
        <p:nvPicPr>
          <p:cNvPr id="251" name="Google Shape;251;p36" title="mem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175" y="19912"/>
            <a:ext cx="1814975" cy="51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#7 </a:t>
            </a:r>
            <a:r>
              <a:rPr lang="en"/>
              <a:t>IEM Daily Feature</a:t>
            </a:r>
            <a:endParaRPr/>
          </a:p>
        </p:txBody>
      </p:sp>
      <p:sp>
        <p:nvSpPr>
          <p:cNvPr id="257" name="Google Shape;257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6,356 daily blurbs posted to homepage with something currently relevant.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Abstain voting was added by </a:t>
            </a:r>
            <a:r>
              <a:rPr lang="en"/>
              <a:t>obstinate</a:t>
            </a:r>
            <a:r>
              <a:rPr lang="en"/>
              <a:t> NWS user wanting a less-bad “bad” option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2014-2016 blip was a website bug, sigh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Most see feature via RSS reader or daily bulletin email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 features intentionally obscure to provoke Dr Hornbuckle 😎</a:t>
            </a:r>
            <a:endParaRPr/>
          </a:p>
        </p:txBody>
      </p:sp>
      <p:pic>
        <p:nvPicPr>
          <p:cNvPr id="258" name="Google Shape;258;p37" title="vot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50" y="1152475"/>
            <a:ext cx="4527600" cy="3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#6 </a:t>
            </a:r>
            <a:r>
              <a:rPr lang="en"/>
              <a:t>My partner in crime, Dave Flory</a:t>
            </a:r>
            <a:endParaRPr/>
          </a:p>
        </p:txBody>
      </p:sp>
      <p:sp>
        <p:nvSpPr>
          <p:cNvPr id="264" name="Google Shape;264;p38"/>
          <p:cNvSpPr txBox="1"/>
          <p:nvPr>
            <p:ph idx="2" type="body"/>
          </p:nvPr>
        </p:nvSpPr>
        <p:spPr>
          <a:xfrm>
            <a:off x="3352750" y="3008500"/>
            <a:ext cx="5429700" cy="14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Been helping me since the IITAP/PIRCS days! ~1999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Owner of e</a:t>
            </a:r>
            <a:r>
              <a:rPr lang="en"/>
              <a:t>gregious</a:t>
            </a:r>
            <a:r>
              <a:rPr lang="en"/>
              <a:t> and light bar </a:t>
            </a:r>
            <a:r>
              <a:rPr lang="en"/>
              <a:t>equipped</a:t>
            </a:r>
            <a:r>
              <a:rPr lang="en"/>
              <a:t> IEM2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Ensures I am doing things useful for the students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Ensures science rigor of daily feature</a:t>
            </a:r>
            <a:endParaRPr/>
          </a:p>
        </p:txBody>
      </p:sp>
      <p:pic>
        <p:nvPicPr>
          <p:cNvPr id="265" name="Google Shape;265;p38" title="Flor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25" y="1534450"/>
            <a:ext cx="3007301" cy="228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8" title="IEM1.jpg"/>
          <p:cNvPicPr preferRelativeResize="0"/>
          <p:nvPr/>
        </p:nvPicPr>
        <p:blipFill rotWithShape="1">
          <a:blip r:embed="rId4">
            <a:alphaModFix/>
          </a:blip>
          <a:srcRect b="25320" l="0" r="0" t="22409"/>
          <a:stretch/>
        </p:blipFill>
        <p:spPr>
          <a:xfrm>
            <a:off x="3287175" y="704850"/>
            <a:ext cx="5587751" cy="21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#5 </a:t>
            </a:r>
            <a:r>
              <a:rPr lang="en" sz="2578"/>
              <a:t>Delivering </a:t>
            </a:r>
            <a:r>
              <a:rPr lang="en" sz="2578"/>
              <a:t>memorable</a:t>
            </a:r>
            <a:r>
              <a:rPr lang="en" sz="2578"/>
              <a:t> addresses, like today.</a:t>
            </a:r>
            <a:endParaRPr sz="2578"/>
          </a:p>
        </p:txBody>
      </p:sp>
      <p:pic>
        <p:nvPicPr>
          <p:cNvPr id="272" name="Google Shape;272;p39" title="Screenshot from 2026-09-29 14-06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5" y="2487950"/>
            <a:ext cx="4527601" cy="249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9" title="Screenshot from 2026-09-29 14-07-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00" y="815946"/>
            <a:ext cx="3561200" cy="16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9" title="sandiego066.jpg"/>
          <p:cNvPicPr preferRelativeResize="0"/>
          <p:nvPr/>
        </p:nvPicPr>
        <p:blipFill rotWithShape="1">
          <a:blip r:embed="rId5">
            <a:alphaModFix/>
          </a:blip>
          <a:srcRect b="23936" l="0" r="0" t="23179"/>
          <a:stretch/>
        </p:blipFill>
        <p:spPr>
          <a:xfrm>
            <a:off x="6725950" y="736950"/>
            <a:ext cx="2310750" cy="16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9" title="img004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4500" y="1606925"/>
            <a:ext cx="2882150" cy="21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9"/>
          <p:cNvSpPr txBox="1"/>
          <p:nvPr/>
        </p:nvSpPr>
        <p:spPr>
          <a:xfrm>
            <a:off x="4930025" y="3848050"/>
            <a:ext cx="390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Circa 2003, daryl delivered an epic rant against ESRI and horrors of shapefiles. Got cornered afterwards.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#4 </a:t>
            </a:r>
            <a:r>
              <a:rPr lang="en"/>
              <a:t>The virtuous weather gamblers.</a:t>
            </a:r>
            <a:endParaRPr/>
          </a:p>
        </p:txBody>
      </p:sp>
      <p:pic>
        <p:nvPicPr>
          <p:cNvPr id="282" name="Google Shape;282;p40" title="gamblers.png"/>
          <p:cNvPicPr preferRelativeResize="0"/>
          <p:nvPr/>
        </p:nvPicPr>
        <p:blipFill rotWithShape="1">
          <a:blip r:embed="rId3">
            <a:alphaModFix/>
          </a:blip>
          <a:srcRect b="0" l="0" r="49635" t="0"/>
          <a:stretch/>
        </p:blipFill>
        <p:spPr>
          <a:xfrm>
            <a:off x="152400" y="889350"/>
            <a:ext cx="3163199" cy="410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0" title="kramer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599" y="2931500"/>
            <a:ext cx="2744300" cy="205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0"/>
          <p:cNvSpPr txBox="1"/>
          <p:nvPr/>
        </p:nvSpPr>
        <p:spPr>
          <a:xfrm>
            <a:off x="6122775" y="2931500"/>
            <a:ext cx="291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Kramer </a:t>
            </a:r>
            <a:r>
              <a:rPr lang="en" sz="1800">
                <a:solidFill>
                  <a:schemeClr val="dk1"/>
                </a:solidFill>
              </a:rPr>
              <a:t>only </a:t>
            </a:r>
            <a:r>
              <a:rPr lang="en" sz="1800">
                <a:solidFill>
                  <a:schemeClr val="dk1"/>
                </a:solidFill>
              </a:rPr>
              <a:t>bet on airplane arrivals, folks now bet on airport weather station temperatures.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What a time to be alive.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5" name="Google Shape;285;p40"/>
          <p:cNvSpPr txBox="1"/>
          <p:nvPr/>
        </p:nvSpPr>
        <p:spPr>
          <a:xfrm>
            <a:off x="3528900" y="910675"/>
            <a:ext cx="3825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Lo and behold. For a number of minutes each day, the IEM website has a correct afternoon airport high temperature before most anybody else, including an incorrect NWS website data presentation.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9900"/>
                </a:solidFill>
              </a:rPr>
              <a:t>The gamblers noticed. </a:t>
            </a:r>
            <a:endParaRPr sz="1600">
              <a:solidFill>
                <a:srgbClr val="FF9900"/>
              </a:solidFill>
            </a:endParaRPr>
          </a:p>
        </p:txBody>
      </p:sp>
      <p:pic>
        <p:nvPicPr>
          <p:cNvPr id="286" name="Google Shape;286;p40" title="picar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3518" y="2285400"/>
            <a:ext cx="101813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0" title="kalsh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1938" y="114500"/>
            <a:ext cx="1301211" cy="2816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#3 </a:t>
            </a:r>
            <a:r>
              <a:rPr lang="en"/>
              <a:t>IEMBot / IEMChat / NWSChat</a:t>
            </a:r>
            <a:r>
              <a:rPr lang="en"/>
              <a:t>.</a:t>
            </a:r>
            <a:endParaRPr/>
          </a:p>
        </p:txBody>
      </p:sp>
      <p:pic>
        <p:nvPicPr>
          <p:cNvPr id="293" name="Google Shape;293;p41" title="pr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3500" y="3171500"/>
            <a:ext cx="4341851" cy="135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1" title="folk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3512" y="891625"/>
            <a:ext cx="2117375" cy="212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1" title="awar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2800" y="902085"/>
            <a:ext cx="2491199" cy="211474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Building off of NWS/media/IEM partnership, an instant messaging platform was developed to support real-time collaboration needs of Emergency Management, Media, NWS, and others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Started as “IEMChat” in 2005, later rebranded as “NWSChat” in 2008, replaced by Slack in 2023.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Upper </a:t>
            </a:r>
            <a:r>
              <a:rPr lang="en"/>
              <a:t>right picture, NOAA “employee of the month” award with me standing in front of a tree at the ISU Ag Farm. 🤷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project drove significant nationwide usage of the IEM as it powered this all.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#2 </a:t>
            </a:r>
            <a:r>
              <a:rPr lang="en"/>
              <a:t>KCCI-TV Des Moines</a:t>
            </a:r>
            <a:endParaRPr/>
          </a:p>
        </p:txBody>
      </p:sp>
      <p:pic>
        <p:nvPicPr>
          <p:cNvPr id="302" name="Google Shape;302;p42" title="kcci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7875" y="65200"/>
            <a:ext cx="1717225" cy="196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se of gravity wave action from the Tama, Iowa KCCI-TV webcam on 6 May 2007." id="303" name="Google Shape;303;p42" title="Gravity Wave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7125" y="2107175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2"/>
          <p:cNvSpPr txBox="1"/>
          <p:nvPr/>
        </p:nvSpPr>
        <p:spPr>
          <a:xfrm>
            <a:off x="4603850" y="3865175"/>
            <a:ext cx="4377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Coleman, T., K. Knupp and D. Herzmann. 2010, An Undular Bore and Gravity Waves Illustrated by Dramatic Time-Lapse Photography. Journal of Atmospheric and Oceanic Technology. Vol 27, Iss 8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05" name="Google Shape;305;p42" title="bureau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3846" y="736950"/>
            <a:ext cx="1642750" cy="122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2"/>
          <p:cNvSpPr txBox="1"/>
          <p:nvPr/>
        </p:nvSpPr>
        <p:spPr>
          <a:xfrm>
            <a:off x="352825" y="1178175"/>
            <a:ext cx="40734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Pioneering Academia (IEM), Private (KCCI-TV), Government (NWS) partnership started in 2002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At the time, NWS was not permitted to engage the private sector for data, but IEM could be intermediary.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Started public webcam / school-based obs partnership in 2003, which spread to other TV stations.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This partnership was </a:t>
            </a:r>
            <a:r>
              <a:rPr lang="en" sz="1600">
                <a:solidFill>
                  <a:schemeClr val="dk1"/>
                </a:solidFill>
              </a:rPr>
              <a:t>fortuitous</a:t>
            </a:r>
            <a:r>
              <a:rPr lang="en" sz="1600">
                <a:solidFill>
                  <a:schemeClr val="dk1"/>
                </a:solidFill>
              </a:rPr>
              <a:t> for IEM nationwide popularity and </a:t>
            </a:r>
            <a:r>
              <a:rPr lang="en" sz="1600">
                <a:solidFill>
                  <a:schemeClr val="dk1"/>
                </a:solidFill>
              </a:rPr>
              <a:t>notoriety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3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Bliss #1 </a:t>
            </a:r>
            <a:r>
              <a:rPr lang="en"/>
              <a:t>DO NOT CONGRATULATE.</a:t>
            </a:r>
            <a:endParaRPr/>
          </a:p>
        </p:txBody>
      </p:sp>
      <p:pic>
        <p:nvPicPr>
          <p:cNvPr id="312" name="Google Shape;312;p43" title="a5943a02a4c957807ce50032d31c8e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50" y="1281525"/>
            <a:ext cx="2264000" cy="221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3" title="Screenshot from 2026-09-24 13-16-18.png"/>
          <p:cNvPicPr preferRelativeResize="0"/>
          <p:nvPr/>
        </p:nvPicPr>
        <p:blipFill rotWithShape="1">
          <a:blip r:embed="rId4">
            <a:alphaModFix/>
          </a:blip>
          <a:srcRect b="189" l="0" r="0" t="199"/>
          <a:stretch/>
        </p:blipFill>
        <p:spPr>
          <a:xfrm>
            <a:off x="5824024" y="2239000"/>
            <a:ext cx="3185276" cy="84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3" title="Screenshot from 2026-09-24 13-06-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8124" y="1287999"/>
            <a:ext cx="3237051" cy="84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3" title="Screenshot from 2026-09-24 13-06-2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896" y="3216775"/>
            <a:ext cx="3226500" cy="855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3" title="Screenshot from 2026-09-24 13-06-1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93924" y="2232524"/>
            <a:ext cx="3226491" cy="862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43"/>
          <p:cNvGrpSpPr/>
          <p:nvPr/>
        </p:nvGrpSpPr>
        <p:grpSpPr>
          <a:xfrm>
            <a:off x="2493925" y="1281518"/>
            <a:ext cx="6535976" cy="2789573"/>
            <a:chOff x="2555850" y="889343"/>
            <a:chExt cx="6535976" cy="2789573"/>
          </a:xfrm>
        </p:grpSpPr>
        <p:pic>
          <p:nvPicPr>
            <p:cNvPr id="318" name="Google Shape;318;p43" title="Screenshot from 2026-09-24 13-15-30.png"/>
            <p:cNvPicPr preferRelativeResize="0"/>
            <p:nvPr/>
          </p:nvPicPr>
          <p:blipFill rotWithShape="1">
            <a:blip r:embed="rId8">
              <a:alphaModFix/>
            </a:blip>
            <a:srcRect b="836" l="0" r="0" t="826"/>
            <a:stretch/>
          </p:blipFill>
          <p:spPr>
            <a:xfrm>
              <a:off x="5865325" y="2825600"/>
              <a:ext cx="3226501" cy="853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43" title="Screenshot from 2026-09-24 13-06-05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555850" y="889343"/>
              <a:ext cx="3237050" cy="862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0" name="Google Shape;320;p43"/>
          <p:cNvSpPr txBox="1"/>
          <p:nvPr/>
        </p:nvSpPr>
        <p:spPr>
          <a:xfrm>
            <a:off x="2505650" y="4180550"/>
            <a:ext cx="65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^^ Maintaining 25 years of technical debt on Github.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1" name="Google Shape;321;p43"/>
          <p:cNvSpPr txBox="1"/>
          <p:nvPr/>
        </p:nvSpPr>
        <p:spPr>
          <a:xfrm>
            <a:off x="2493925" y="710375"/>
            <a:ext cx="65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Extreme altruistic levels of open source software.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slide of memes and dry wit.</a:t>
            </a:r>
            <a:endParaRPr/>
          </a:p>
        </p:txBody>
      </p:sp>
      <p:sp>
        <p:nvSpPr>
          <p:cNvPr id="327" name="Google Shape;327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 send me a feature request email and let us add to the website trainwreck as I have </a:t>
            </a:r>
            <a:r>
              <a:rPr lang="en">
                <a:solidFill>
                  <a:srgbClr val="FF0000"/>
                </a:solidFill>
              </a:rPr>
              <a:t>bailing wire and duct tape</a:t>
            </a:r>
            <a:r>
              <a:rPr lang="en"/>
              <a:t> to spare.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 put a month of my time on your research project and see how long I can sustain it, hehe.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 stop by my office (3027) anytime to experience more dry wit and pessimism about environmental data.</a:t>
            </a:r>
            <a:endParaRPr/>
          </a:p>
        </p:txBody>
      </p:sp>
      <p:pic>
        <p:nvPicPr>
          <p:cNvPr id="328" name="Google Shape;328;p44" title="Red_Gree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400" y="808450"/>
            <a:ext cx="2481475" cy="279412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4"/>
          <p:cNvSpPr txBox="1"/>
          <p:nvPr/>
        </p:nvSpPr>
        <p:spPr>
          <a:xfrm>
            <a:off x="4767350" y="3733300"/>
            <a:ext cx="3963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“</a:t>
            </a:r>
            <a:r>
              <a:rPr i="1" lang="en" sz="1600">
                <a:solidFill>
                  <a:schemeClr val="dk1"/>
                </a:solidFill>
              </a:rPr>
              <a:t>If the women do not find you handsome, they should at least find you handy</a:t>
            </a:r>
            <a:r>
              <a:rPr lang="en" sz="1600">
                <a:solidFill>
                  <a:schemeClr val="dk1"/>
                </a:solidFill>
              </a:rPr>
              <a:t>.”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“</a:t>
            </a:r>
            <a:r>
              <a:rPr i="1" lang="en" sz="1600">
                <a:solidFill>
                  <a:schemeClr val="dk1"/>
                </a:solidFill>
              </a:rPr>
              <a:t>Quando Omni Flunkus Moritati.</a:t>
            </a:r>
            <a:r>
              <a:rPr lang="en" sz="1600">
                <a:solidFill>
                  <a:schemeClr val="dk1"/>
                </a:solidFill>
              </a:rPr>
              <a:t>”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0" name="Google Shape;330;p44"/>
          <p:cNvSpPr txBox="1"/>
          <p:nvPr>
            <p:ph idx="4294967295" type="subTitle"/>
          </p:nvPr>
        </p:nvSpPr>
        <p:spPr>
          <a:xfrm>
            <a:off x="311700" y="3776275"/>
            <a:ext cx="496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40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Thank you!</a:t>
            </a:r>
            <a:endParaRPr sz="4400">
              <a:solidFill>
                <a:srgbClr val="FF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5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Quasi Surprise</a:t>
            </a: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en" sz="2650">
                <a:solidFill>
                  <a:srgbClr val="FFFF00"/>
                </a:solidFill>
              </a:rPr>
              <a:t>DERECHOS Project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36" name="Google Shape;336;p45"/>
          <p:cNvSpPr txBox="1"/>
          <p:nvPr>
            <p:ph idx="2" type="body"/>
          </p:nvPr>
        </p:nvSpPr>
        <p:spPr>
          <a:xfrm>
            <a:off x="5569475" y="1152475"/>
            <a:ext cx="326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Department of Energy (DOE) / Atmospheric Radiation Measurement (ARM) Mobile Facility #2 is coming to Iowa!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Operation 2028-2029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Operating from MRF (Muscatine) and SERF (Crawfordsville) Ag Farms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~$10M worth of equipment, 4-5 employees onsite, 24/7 ops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Collaborations strongly encouraged!</a:t>
            </a:r>
            <a:endParaRPr/>
          </a:p>
        </p:txBody>
      </p:sp>
      <p:pic>
        <p:nvPicPr>
          <p:cNvPr id="337" name="Google Shape;33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330" y="1152475"/>
            <a:ext cx="5211689" cy="34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>
            <p:ph type="title"/>
          </p:nvPr>
        </p:nvSpPr>
        <p:spPr>
          <a:xfrm>
            <a:off x="1020150" y="164250"/>
            <a:ext cx="760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Actual </a:t>
            </a:r>
            <a:r>
              <a:rPr lang="en" sz="265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Surprise </a:t>
            </a:r>
            <a:r>
              <a:rPr lang="en" sz="2650">
                <a:solidFill>
                  <a:srgbClr val="FFFF00"/>
                </a:solidFill>
              </a:rPr>
              <a:t>ISU Soil Moisture App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43" name="Google Shape;343;p46"/>
          <p:cNvSpPr txBox="1"/>
          <p:nvPr>
            <p:ph idx="2" type="body"/>
          </p:nvPr>
        </p:nvSpPr>
        <p:spPr>
          <a:xfrm>
            <a:off x="4489525" y="1152475"/>
            <a:ext cx="434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Probably most requested thing I have not done over the past 25 years, a smartphone app for the ISU Soil Moisture Network.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iOS AppStore and Google Play submissions in progress.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My first ever app and I am 48 years ago, so this is great </a:t>
            </a:r>
            <a:r>
              <a:rPr lang="en" strike="sngStrike"/>
              <a:t>pain</a:t>
            </a:r>
            <a:r>
              <a:rPr lang="en"/>
              <a:t> bliss, but we vibe maxxing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Please let me know if you want to test and drive features forward.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Maybe this will atone for the IEM sins against the ISU Soil Moisture Network.</a:t>
            </a:r>
            <a:endParaRPr/>
          </a:p>
        </p:txBody>
      </p:sp>
      <p:pic>
        <p:nvPicPr>
          <p:cNvPr id="344" name="Google Shape;344;p46" title="Screenshot from 2026-10-01 09-21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9350"/>
            <a:ext cx="3532721" cy="410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