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9" r:id="rId3"/>
    <p:sldId id="257" r:id="rId4"/>
    <p:sldId id="259" r:id="rId5"/>
    <p:sldId id="314" r:id="rId6"/>
    <p:sldId id="300" r:id="rId7"/>
    <p:sldId id="301" r:id="rId8"/>
    <p:sldId id="260" r:id="rId9"/>
    <p:sldId id="261" r:id="rId10"/>
    <p:sldId id="262" r:id="rId11"/>
    <p:sldId id="304" r:id="rId12"/>
    <p:sldId id="302" r:id="rId13"/>
    <p:sldId id="284" r:id="rId14"/>
    <p:sldId id="285" r:id="rId15"/>
    <p:sldId id="272" r:id="rId16"/>
    <p:sldId id="274" r:id="rId17"/>
    <p:sldId id="266" r:id="rId18"/>
    <p:sldId id="267" r:id="rId19"/>
    <p:sldId id="268" r:id="rId20"/>
    <p:sldId id="269" r:id="rId21"/>
    <p:sldId id="271" r:id="rId22"/>
    <p:sldId id="278" r:id="rId23"/>
    <p:sldId id="270" r:id="rId24"/>
    <p:sldId id="286" r:id="rId25"/>
    <p:sldId id="298" r:id="rId26"/>
    <p:sldId id="279" r:id="rId27"/>
    <p:sldId id="283" r:id="rId28"/>
    <p:sldId id="293" r:id="rId29"/>
    <p:sldId id="303" r:id="rId30"/>
    <p:sldId id="280" r:id="rId31"/>
    <p:sldId id="289" r:id="rId32"/>
    <p:sldId id="312" r:id="rId33"/>
    <p:sldId id="295" r:id="rId34"/>
    <p:sldId id="296" r:id="rId35"/>
    <p:sldId id="297" r:id="rId36"/>
    <p:sldId id="313" r:id="rId37"/>
    <p:sldId id="305" r:id="rId38"/>
    <p:sldId id="263" r:id="rId39"/>
    <p:sldId id="264" r:id="rId40"/>
    <p:sldId id="265" r:id="rId41"/>
    <p:sldId id="306" r:id="rId42"/>
    <p:sldId id="307" r:id="rId43"/>
    <p:sldId id="308" r:id="rId44"/>
    <p:sldId id="309" r:id="rId45"/>
    <p:sldId id="310" r:id="rId46"/>
    <p:sldId id="311" r:id="rId47"/>
    <p:sldId id="281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4" d="100"/>
          <a:sy n="5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43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18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198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5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27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759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82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33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15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98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787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0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282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q=94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9&amp;network=IACLIMATE&amp;station=IATAME&amp;year=2026&amp;base=50&amp;ceiling=86&amp;dpi=100&amp;_fmt=png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08&amp;network=IACLIMATE&amp;station=IATAME&amp;sdate=2026%2F05%2F01&amp;edate=2026%2F08%2F28&amp;base=50&amp;ceil=86&amp;_opt_year2=on&amp;year2=2022&amp;_opt_year3=on&amp;year3=2012&amp;year4=1893&amp;which=gdd&amp;_r=43&amp;dpi=100&amp;_fmt=png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79&amp;network=IACLIMATE&amp;station=IATAME&amp;gddbase=2300&amp;base=50&amp;ceil=86&amp;date=2026%2F08%2F23&amp;cmap=jet&amp;_r=43&amp;dpi=100&amp;_fmt=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7&amp;network=IACLIMATE&amp;station=IATAME&amp;year=2026&amp;gdd1=1135&amp;gdd2=1660&amp;dpi=100&amp;_fmt=png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32&amp;network=IACLIMATE&amp;station=IATAME&amp;year=2026&amp;var=high&amp;gddbase=50&amp;gddceil=86&amp;how=diff&amp;cmap=jet&amp;_r=43&amp;dpi=100&amp;_fmt=pn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23&amp;network=IACLIMATE&amp;station=IATAME&amp;syear=2013&amp;years=13&amp;var=avg_temp&amp;dpi=100&amp;_fmt=png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mesonet.agron.iastate.edu/plotting/auto/?_wait=no&amp;q=93&amp;network=IA_ASOS&amp;zstation=AMW&amp;year=2026&amp;var=heatindex&amp;ytd=no&amp;inc=no&amp;dpi=100&amp;_fmt=png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77&amp;station=WMNI4&amp;opt=3&amp;sts=2026/04/01+1000&amp;ets=2026/06/01+1000&amp;dpi=100&amp;_fmt=png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agclimate/soilt.php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mesonet.agron.iastate.edu/plotting/auto/?_wait=no&amp;q=177&amp;station=BOOI4&amp;opt=sm&amp;sts=2026%2F04%2F01+1000&amp;ets=2026%2F08%2F28+1200&amp;_r=t&amp;dpi=100&amp;_fmt=png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84&amp;sector=IA&amp;_ugc_state=IA&amp;ugc=IAC153&amp;cwa=LIX&amp;src=mrms&amp;opt=dep&amp;usdm=yes&amp;ptype=g&amp;sdate=2026%2F07%2F01&amp;edate=2026%2F08%2F24&amp;cmap=BrBG&amp;_r=43&amp;dpi=100&amp;_fmt=png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84&amp;sector=IA&amp;_ugc_state=IA&amp;ugc=IAC153&amp;cwa=LIX&amp;src=mrms&amp;opt=dep&amp;usdm=yes&amp;ptype=g&amp;sdate=2023%2F07%2F01&amp;edate=2023%2F08%2F28&amp;cmap=BrBG&amp;_r=43&amp;dpi=100&amp;_fmt=png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mesonet.agron.iastate.edu/plotting/auto/?_wait=no&amp;q=173&amp;network=IA_ASOS&amp;zstation=AMW&amp;units=mph&amp;p1=0201-0228&amp;p2=0511-0520&amp;p3=0521-0530&amp;p4=0601-0610&amp;p5=0611-0620&amp;p6=0621-0630&amp;y1=1973&amp;y2=2018&amp;dpi=100&amp;_fmt=png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mesonet.agron.iastate.edu/sites/windrose.phtml?station=AMW&amp;network=IA_ASO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q=239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hyperlink" Target="https://mesonet.agron.iastate.edu/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the </a:t>
            </a:r>
            <a:r>
              <a:rPr lang="en-US" dirty="0" err="1"/>
              <a:t>Mesonet</a:t>
            </a:r>
            <a:r>
              <a:rPr lang="en-US" dirty="0"/>
              <a:t> Website</a:t>
            </a:r>
            <a:br>
              <a:rPr lang="en-US" dirty="0"/>
            </a:br>
            <a:r>
              <a:rPr lang="en-US" dirty="0"/>
              <a:t>For Fun and/or Profit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Daryl Herzmann</a:t>
            </a:r>
          </a:p>
          <a:p>
            <a:r>
              <a:rPr lang="en-US" dirty="0"/>
              <a:t>@</a:t>
            </a:r>
            <a:r>
              <a:rPr lang="en-US" dirty="0" err="1"/>
              <a:t>akrherz</a:t>
            </a:r>
            <a:endParaRPr lang="en-US" dirty="0"/>
          </a:p>
          <a:p>
            <a:r>
              <a:rPr lang="en-US" dirty="0"/>
              <a:t>25 August 2026</a:t>
            </a:r>
          </a:p>
          <a:p>
            <a:r>
              <a:rPr lang="en-US" dirty="0"/>
              <a:t>Website -&gt; Info Tab -&gt; Presentations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386574"/>
            <a:ext cx="2683155" cy="205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584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7B97D7-8AF8-86A8-EBE0-08877698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 and Why am I here?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4831EC-E61A-BFAB-45EA-7ABFA00FD2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Hi, I’m </a:t>
            </a:r>
            <a:r>
              <a:rPr lang="en-US" dirty="0" err="1"/>
              <a:t>daryl</a:t>
            </a:r>
            <a:r>
              <a:rPr lang="en-US" dirty="0"/>
              <a:t>! I’m staff in Agronomy with a BS in Meteorology (ISU, 2001).</a:t>
            </a:r>
          </a:p>
          <a:p>
            <a:r>
              <a:rPr lang="en-US" dirty="0"/>
              <a:t>I’m the proprietor of the IEM website.</a:t>
            </a:r>
          </a:p>
          <a:p>
            <a:r>
              <a:rPr lang="en-US" dirty="0"/>
              <a:t>All </a:t>
            </a:r>
            <a:r>
              <a:rPr lang="en-US" dirty="0" err="1"/>
              <a:t>ya’ll</a:t>
            </a:r>
            <a:r>
              <a:rPr lang="en-US" dirty="0"/>
              <a:t> are supposed to be directly in my wheelhouse for website users to support!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2AE9D28-5CC6-0812-C560-50FF9390D12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108404"/>
            <a:ext cx="4495800" cy="3185595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6D8F33-8C01-73CA-A2A9-C4D31DE08ADD}"/>
              </a:ext>
            </a:extLst>
          </p:cNvPr>
          <p:cNvSpPr txBox="1"/>
          <p:nvPr/>
        </p:nvSpPr>
        <p:spPr>
          <a:xfrm>
            <a:off x="7848600" y="5293999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 Photo</a:t>
            </a:r>
          </a:p>
        </p:txBody>
      </p:sp>
    </p:spTree>
    <p:extLst>
      <p:ext uri="{BB962C8B-B14F-4D97-AF65-F5344CB8AC3E}">
        <p14:creationId xmlns:p14="http://schemas.microsoft.com/office/powerpoint/2010/main" val="2431513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going on here?</a:t>
            </a:r>
            <a:br>
              <a:rPr lang="en-US" dirty="0"/>
            </a:br>
            <a:r>
              <a:rPr lang="en-US" dirty="0"/>
              <a:t>https://mesonet.agron.iastate.edu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919083-A34A-D8B3-B892-DFBED051F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324" y="2362200"/>
            <a:ext cx="4064476" cy="2971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B7F237-7766-33FA-5B03-9EF415EE328F}"/>
              </a:ext>
            </a:extLst>
          </p:cNvPr>
          <p:cNvSpPr txBox="1"/>
          <p:nvPr/>
        </p:nvSpPr>
        <p:spPr>
          <a:xfrm>
            <a:off x="457200" y="1752600"/>
            <a:ext cx="411480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For past 25 years, I’ve implemented about 95% of the requests made of me for weather / climate products + data.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Unmitigated website feature sprawl with ~150 apps, ~40 download portals, and ~260 automated plotting apps.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To atone for these sins, I promptly answer all the emails I get. (GOTO step 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819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30,000 foot view of IEM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0687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Other states have a University/State “</a:t>
            </a:r>
            <a:r>
              <a:rPr lang="en-US" dirty="0" err="1"/>
              <a:t>Mesonet</a:t>
            </a:r>
            <a:r>
              <a:rPr lang="en-US" dirty="0"/>
              <a:t>” with staff (gasp), deployed equipment, and research programs. </a:t>
            </a:r>
          </a:p>
          <a:p>
            <a:r>
              <a:rPr lang="en-US" dirty="0"/>
              <a:t>ISU has a “Soil Moisture Network”, which is a quasi </a:t>
            </a:r>
            <a:r>
              <a:rPr lang="en-US" dirty="0" err="1"/>
              <a:t>mesonet</a:t>
            </a:r>
            <a:r>
              <a:rPr lang="en-US" dirty="0"/>
              <a:t>, some call it the </a:t>
            </a:r>
            <a:r>
              <a:rPr lang="en-US" dirty="0" err="1"/>
              <a:t>mesonet</a:t>
            </a:r>
            <a:r>
              <a:rPr lang="en-US" dirty="0"/>
              <a:t>, but it is not what the IEM is!</a:t>
            </a:r>
          </a:p>
          <a:p>
            <a:r>
              <a:rPr lang="en-US" dirty="0"/>
              <a:t>Data from the Soil Moisture Network is found on the IEM website, along with everything else under the sun! To make things fun and confusing.</a:t>
            </a:r>
          </a:p>
        </p:txBody>
      </p:sp>
    </p:spTree>
    <p:extLst>
      <p:ext uri="{BB962C8B-B14F-4D97-AF65-F5344CB8AC3E}">
        <p14:creationId xmlns:p14="http://schemas.microsoft.com/office/powerpoint/2010/main" val="1706694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4AAEC-15E1-F64E-85BE-3657F9724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2BA7F7-5F8C-1573-05B9-A259551BA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So what exactly is the IEM?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549569-4405-FF83-D3C9-D3028AF6C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068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It me.</a:t>
            </a:r>
          </a:p>
          <a:p>
            <a:r>
              <a:rPr lang="en-US" dirty="0"/>
              <a:t>A website with portals offering easy download of many environmental datasets.</a:t>
            </a:r>
          </a:p>
          <a:p>
            <a:r>
              <a:rPr lang="en-US" dirty="0"/>
              <a:t>Generally not limited to Iowa, some global.</a:t>
            </a:r>
          </a:p>
          <a:p>
            <a:r>
              <a:rPr lang="en-US" dirty="0"/>
              <a:t>Many fully customizable data visualizations while not hiding the raw data behind the visualizations.</a:t>
            </a:r>
          </a:p>
          <a:p>
            <a:r>
              <a:rPr lang="en-US" dirty="0"/>
              <a:t>All sorts of dry wit.</a:t>
            </a:r>
          </a:p>
        </p:txBody>
      </p:sp>
    </p:spTree>
    <p:extLst>
      <p:ext uri="{BB962C8B-B14F-4D97-AF65-F5344CB8AC3E}">
        <p14:creationId xmlns:p14="http://schemas.microsoft.com/office/powerpoint/2010/main" val="185278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DAF3A-B8EC-A992-1F32-D58CEC1EE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11430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Augh </a:t>
            </a:r>
            <a:r>
              <a:rPr lang="en-US" dirty="0" err="1"/>
              <a:t>daryl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I just want to know how much it</a:t>
            </a:r>
            <a:br>
              <a:rPr lang="en-US" dirty="0"/>
            </a:br>
            <a:r>
              <a:rPr lang="en-US" dirty="0"/>
              <a:t>rained and if we are above or</a:t>
            </a:r>
            <a:br>
              <a:rPr lang="en-US" dirty="0"/>
            </a:br>
            <a:r>
              <a:rPr lang="en-US" dirty="0"/>
              <a:t>below average for GDDs.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9CA40E-031A-FF66-09AC-4F8E317709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3810000"/>
            <a:ext cx="5397500" cy="25908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5749E6-5DD1-1DA6-61D3-55FC657C260D}"/>
              </a:ext>
            </a:extLst>
          </p:cNvPr>
          <p:cNvSpPr txBox="1"/>
          <p:nvPr/>
        </p:nvSpPr>
        <p:spPr>
          <a:xfrm>
            <a:off x="6400800" y="6408683"/>
            <a:ext cx="115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Tenor.com</a:t>
            </a:r>
          </a:p>
        </p:txBody>
      </p:sp>
    </p:spTree>
    <p:extLst>
      <p:ext uri="{BB962C8B-B14F-4D97-AF65-F5344CB8AC3E}">
        <p14:creationId xmlns:p14="http://schemas.microsoft.com/office/powerpoint/2010/main" val="949839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F699F7-A52C-9325-D6E3-609F930D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TELL ME RAINFALL AND GDDs!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07712D-2EC1-B861-DB49-A86CD28D01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7924800" cy="4525963"/>
          </a:xfrm>
        </p:spPr>
        <p:txBody>
          <a:bodyPr/>
          <a:lstStyle/>
          <a:p>
            <a:r>
              <a:rPr lang="en-US" dirty="0"/>
              <a:t>Do you know what you are asking for?</a:t>
            </a:r>
          </a:p>
          <a:p>
            <a:r>
              <a:rPr lang="en-US" dirty="0"/>
              <a:t>What is average/normal, are they even the same?</a:t>
            </a:r>
          </a:p>
          <a:p>
            <a:r>
              <a:rPr lang="en-US" dirty="0"/>
              <a:t>What are your accuracy requirements?</a:t>
            </a:r>
          </a:p>
          <a:p>
            <a:r>
              <a:rPr lang="en-US" dirty="0"/>
              <a:t>What variability are you attempting to explain?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DE7EA4-6A89-4564-C9A9-88097411D663}"/>
              </a:ext>
            </a:extLst>
          </p:cNvPr>
          <p:cNvSpPr txBox="1"/>
          <p:nvPr/>
        </p:nvSpPr>
        <p:spPr>
          <a:xfrm>
            <a:off x="3334321" y="5824253"/>
            <a:ext cx="37425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Speaking of Variability….</a:t>
            </a:r>
          </a:p>
        </p:txBody>
      </p:sp>
    </p:spTree>
    <p:extLst>
      <p:ext uri="{BB962C8B-B14F-4D97-AF65-F5344CB8AC3E}">
        <p14:creationId xmlns:p14="http://schemas.microsoft.com/office/powerpoint/2010/main" val="3063169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2" y="407773"/>
            <a:ext cx="8732042" cy="5821364"/>
          </a:xfrm>
        </p:spPr>
      </p:pic>
      <p:sp>
        <p:nvSpPr>
          <p:cNvPr id="5" name="TextBox 4"/>
          <p:cNvSpPr txBox="1"/>
          <p:nvPr/>
        </p:nvSpPr>
        <p:spPr>
          <a:xfrm>
            <a:off x="533400" y="381000"/>
            <a:ext cx="80010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ISU “Tall Towers” </a:t>
            </a:r>
            <a:r>
              <a:rPr lang="en-US" sz="2800" b="1" dirty="0">
                <a:solidFill>
                  <a:schemeClr val="accent2"/>
                </a:solidFill>
              </a:rPr>
              <a:t>1 second interval </a:t>
            </a:r>
            <a:r>
              <a:rPr lang="en-US" sz="2800" dirty="0"/>
              <a:t>Wind Speed [</a:t>
            </a:r>
            <a:r>
              <a:rPr lang="en-US" sz="2800" dirty="0" err="1"/>
              <a:t>mps</a:t>
            </a:r>
            <a:r>
              <a:rPr lang="en-US" sz="2800"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6600" y="5105400"/>
            <a:ext cx="5455442" cy="762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4800" y="5486400"/>
            <a:ext cx="792480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Two sensors at same height, mounted at different directions on the tower. We also have 20 Hz data </a:t>
            </a:r>
            <a:r>
              <a:rPr lang="en-US" sz="2400" dirty="0">
                <a:sym typeface="Wingdings" panose="05000000000000000000" pitchFamily="2" charset="2"/>
              </a:rPr>
              <a:t>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1905000" y="4191000"/>
            <a:ext cx="5083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entire plot is just 1 minute of data!</a:t>
            </a:r>
          </a:p>
        </p:txBody>
      </p:sp>
      <p:sp>
        <p:nvSpPr>
          <p:cNvPr id="10" name="Left Arrow 9"/>
          <p:cNvSpPr/>
          <p:nvPr/>
        </p:nvSpPr>
        <p:spPr>
          <a:xfrm>
            <a:off x="762000" y="4341167"/>
            <a:ext cx="914400" cy="2308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Arrow 10"/>
          <p:cNvSpPr/>
          <p:nvPr/>
        </p:nvSpPr>
        <p:spPr>
          <a:xfrm rot="10800000">
            <a:off x="7086600" y="4341166"/>
            <a:ext cx="914400" cy="2308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932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Precipitation Variability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Iowa Flood Center experiment with tipping buckets 3 feet apart</a:t>
            </a:r>
          </a:p>
          <a:p>
            <a:r>
              <a:rPr lang="en-US" dirty="0"/>
              <a:t>Found some cases of noticeable differences between these two gauges</a:t>
            </a:r>
          </a:p>
          <a:p>
            <a:r>
              <a:rPr lang="en-US" dirty="0"/>
              <a:t>In general case, which gauge is right?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348706"/>
            <a:ext cx="4038600" cy="3028950"/>
          </a:xfrm>
        </p:spPr>
      </p:pic>
      <p:sp>
        <p:nvSpPr>
          <p:cNvPr id="13" name="TextBox 12"/>
          <p:cNvSpPr txBox="1"/>
          <p:nvPr/>
        </p:nvSpPr>
        <p:spPr>
          <a:xfrm>
            <a:off x="2971800" y="5791113"/>
            <a:ext cx="595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http://iowafloodcenter.org/notes-from-the-field-rain-gauges/</a:t>
            </a:r>
          </a:p>
        </p:txBody>
      </p:sp>
    </p:spTree>
    <p:extLst>
      <p:ext uri="{BB962C8B-B14F-4D97-AF65-F5344CB8AC3E}">
        <p14:creationId xmlns:p14="http://schemas.microsoft.com/office/powerpoint/2010/main" val="193091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Subtle topography / elevation changes make a difference!</a:t>
            </a:r>
          </a:p>
          <a:p>
            <a:r>
              <a:rPr lang="en-US" dirty="0"/>
              <a:t>Similar to wind, one second plots sometimes show rapid temperature fluctuations</a:t>
            </a:r>
          </a:p>
          <a:p>
            <a:r>
              <a:rPr lang="en-US" dirty="0"/>
              <a:t>Urban Heat Islands impact temperature </a:t>
            </a:r>
            <a:r>
              <a:rPr lang="en-US" dirty="0" err="1"/>
              <a:t>representativity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48200" y="1918539"/>
            <a:ext cx="4038600" cy="38892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81600" y="6126163"/>
            <a:ext cx="2426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Photo: </a:t>
            </a:r>
            <a:r>
              <a:rPr lang="en-US" dirty="0" err="1"/>
              <a:t>Dr</a:t>
            </a:r>
            <a:r>
              <a:rPr lang="en-US" dirty="0"/>
              <a:t> </a:t>
            </a:r>
            <a:r>
              <a:rPr lang="en-US" dirty="0" err="1"/>
              <a:t>Elywnn</a:t>
            </a:r>
            <a:r>
              <a:rPr lang="en-US" dirty="0"/>
              <a:t> Taylor</a:t>
            </a:r>
          </a:p>
        </p:txBody>
      </p:sp>
    </p:spTree>
    <p:extLst>
      <p:ext uri="{BB962C8B-B14F-4D97-AF65-F5344CB8AC3E}">
        <p14:creationId xmlns:p14="http://schemas.microsoft.com/office/powerpoint/2010/main" val="2786035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0378104A-779A-93C8-523D-6EFC251B6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6B6D72CE-DC7D-FC6B-4EE0-C2F73AA47C27}"/>
              </a:ext>
            </a:extLst>
          </p:cNvPr>
          <p:cNvSpPr txBox="1"/>
          <p:nvPr/>
        </p:nvSpPr>
        <p:spPr>
          <a:xfrm>
            <a:off x="5791200" y="6417723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 </a:t>
            </a:r>
            <a:r>
              <a:rPr lang="en-US" dirty="0"/>
              <a:t>#94</a:t>
            </a:r>
          </a:p>
        </p:txBody>
      </p:sp>
    </p:spTree>
    <p:extLst>
      <p:ext uri="{BB962C8B-B14F-4D97-AF65-F5344CB8AC3E}">
        <p14:creationId xmlns:p14="http://schemas.microsoft.com/office/powerpoint/2010/main" val="161617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8170FA9-0CE4-53F7-93AC-F22DA3BE9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200" y="438330"/>
            <a:ext cx="9192332" cy="611487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BE3B7A9-1392-8F7B-4C1C-BA649A5175E1}"/>
              </a:ext>
            </a:extLst>
          </p:cNvPr>
          <p:cNvSpPr/>
          <p:nvPr/>
        </p:nvSpPr>
        <p:spPr>
          <a:xfrm>
            <a:off x="76200" y="1905000"/>
            <a:ext cx="2286000" cy="381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8EEFB5-F763-8956-DCB5-8B35CB92FFF6}"/>
              </a:ext>
            </a:extLst>
          </p:cNvPr>
          <p:cNvSpPr/>
          <p:nvPr/>
        </p:nvSpPr>
        <p:spPr>
          <a:xfrm>
            <a:off x="3200400" y="990600"/>
            <a:ext cx="685800" cy="381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5946F0-4A8B-FBE7-C93C-50CEAF7A90D7}"/>
              </a:ext>
            </a:extLst>
          </p:cNvPr>
          <p:cNvSpPr/>
          <p:nvPr/>
        </p:nvSpPr>
        <p:spPr>
          <a:xfrm>
            <a:off x="7010400" y="417666"/>
            <a:ext cx="1828800" cy="38100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2EE59D-B25F-3529-D3B5-7A1AAA242CA2}"/>
              </a:ext>
            </a:extLst>
          </p:cNvPr>
          <p:cNvSpPr/>
          <p:nvPr/>
        </p:nvSpPr>
        <p:spPr>
          <a:xfrm>
            <a:off x="7010400" y="3733800"/>
            <a:ext cx="2286000" cy="381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520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Plugging my IEM Daily Feature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199" y="2291432"/>
            <a:ext cx="4078261" cy="2645358"/>
          </a:xfrm>
        </p:spPr>
      </p:pic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Highlights something hopefully relevant each day</a:t>
            </a:r>
          </a:p>
          <a:p>
            <a:r>
              <a:rPr lang="en-US" dirty="0"/>
              <a:t>RSS Feed if you don’t want to check website daily, also view past features</a:t>
            </a:r>
          </a:p>
          <a:p>
            <a:r>
              <a:rPr lang="en-US" dirty="0"/>
              <a:t>Often links to IEM app that generated the plot, so you can tweak, download raw data</a:t>
            </a:r>
          </a:p>
        </p:txBody>
      </p:sp>
    </p:spTree>
    <p:extLst>
      <p:ext uri="{BB962C8B-B14F-4D97-AF65-F5344CB8AC3E}">
        <p14:creationId xmlns:p14="http://schemas.microsoft.com/office/powerpoint/2010/main" val="2326485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5116889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920746"/>
            <a:ext cx="166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 Plot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031480"/>
            <a:ext cx="196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 Plot 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068936"/>
            <a:ext cx="125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572000"/>
            <a:ext cx="2368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Generated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867400"/>
            <a:ext cx="2749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Download Raw Data (Excel)</a:t>
            </a:r>
          </a:p>
        </p:txBody>
      </p:sp>
      <p:cxnSp>
        <p:nvCxnSpPr>
          <p:cNvPr id="13" name="Straight Arrow Connector 12"/>
          <p:cNvCxnSpPr>
            <a:stCxn id="6" idx="1"/>
          </p:cNvCxnSpPr>
          <p:nvPr/>
        </p:nvCxnSpPr>
        <p:spPr>
          <a:xfrm flipH="1" flipV="1">
            <a:off x="5269289" y="533400"/>
            <a:ext cx="674311" cy="57201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5269289" y="1958202"/>
            <a:ext cx="674311" cy="24412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endCxn id="5" idx="3"/>
          </p:cNvCxnSpPr>
          <p:nvPr/>
        </p:nvCxnSpPr>
        <p:spPr>
          <a:xfrm flipH="1">
            <a:off x="5269289" y="3254705"/>
            <a:ext cx="674311" cy="1742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H="1">
            <a:off x="2286000" y="6132751"/>
            <a:ext cx="3657600" cy="55119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3810000" y="4720611"/>
            <a:ext cx="2130674" cy="56169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61223" y="134104"/>
            <a:ext cx="32022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IEM Auto Plotting</a:t>
            </a:r>
          </a:p>
        </p:txBody>
      </p:sp>
    </p:spTree>
    <p:extLst>
      <p:ext uri="{BB962C8B-B14F-4D97-AF65-F5344CB8AC3E}">
        <p14:creationId xmlns:p14="http://schemas.microsoft.com/office/powerpoint/2010/main" val="1221855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network should I use?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4036983"/>
              </p:ext>
            </p:extLst>
          </p:nvPr>
        </p:nvGraphicFramePr>
        <p:xfrm>
          <a:off x="457200" y="1600200"/>
          <a:ext cx="8229600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790491294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788220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 Need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337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“Daily” High/Low Temps + Precipitation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NWS COOP</a:t>
                      </a:r>
                      <a:br>
                        <a:rPr lang="en-US" dirty="0"/>
                      </a:br>
                      <a:r>
                        <a:rPr lang="en-US" dirty="0"/>
                        <a:t>IEM “Long Term Climate” / “</a:t>
                      </a:r>
                      <a:r>
                        <a:rPr lang="en-US" dirty="0" err="1"/>
                        <a:t>Climodat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005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</a:t>
                      </a:r>
                      <a:r>
                        <a:rPr lang="en-US" baseline="0" dirty="0"/>
                        <a:t> Moisture</a:t>
                      </a:r>
                      <a:br>
                        <a:rPr lang="en-US" baseline="0" dirty="0"/>
                      </a:br>
                      <a:r>
                        <a:rPr lang="en-US" baseline="0" dirty="0"/>
                        <a:t>ASOS / AWOS (Airport weather stations)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10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Solar</a:t>
                      </a:r>
                      <a:r>
                        <a:rPr lang="en-US" baseline="0" dirty="0"/>
                        <a:t> Radiation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 Moisture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239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Hourly Rainfall,</a:t>
                      </a:r>
                      <a:r>
                        <a:rPr lang="en-US" baseline="0" dirty="0"/>
                        <a:t> not snow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 Moisture / ASOS / AWOS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34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River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DCP</a:t>
                      </a:r>
                      <a:r>
                        <a:rPr lang="en-US" baseline="0" dirty="0"/>
                        <a:t> (USGS gauges)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663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Soil Temperature/Moisture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 Moisture /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0630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Humidity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ISU Soil Moisture / ASOS / AWOS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70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Pavement Temperatures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RWIS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15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0037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477313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What are Growing Degree Days (GDD)?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Classic Equation for Corn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𝑑𝑎𝑖𝑙𝑦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ℎ𝑖𝑔ℎ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𝑑𝑎𝑖𝑙𝑦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𝑙𝑜𝑤</m:t>
                              </m:r>
                            </m:e>
                          </m:d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−50</m:t>
                      </m:r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r>
                  <a:rPr lang="en-US" sz="2000" dirty="0"/>
                  <a:t>Where: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Daily hi/low is capped at 86F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Daily hi/low is floored at 50F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Base is 50F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71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  <a:p>
            <a:pPr marL="0" indent="0">
              <a:buNone/>
            </a:pPr>
            <a:r>
              <a:rPr lang="en-US" sz="2000" dirty="0"/>
              <a:t>High 90</a:t>
            </a:r>
          </a:p>
          <a:p>
            <a:pPr marL="0" indent="0">
              <a:buNone/>
            </a:pPr>
            <a:r>
              <a:rPr lang="en-US" sz="2000" dirty="0"/>
              <a:t>Low 48</a:t>
            </a:r>
          </a:p>
          <a:p>
            <a:pPr marL="0" indent="0">
              <a:buNone/>
            </a:pPr>
            <a:r>
              <a:rPr lang="en-US" sz="2000" dirty="0"/>
              <a:t>GDD: (</a:t>
            </a:r>
            <a:r>
              <a:rPr lang="en-US" sz="2000" strike="sngStrike" dirty="0"/>
              <a:t>90</a:t>
            </a:r>
            <a:r>
              <a:rPr lang="en-US" sz="2000" dirty="0"/>
              <a:t> 86 + </a:t>
            </a:r>
            <a:r>
              <a:rPr lang="en-US" sz="2000" strike="sngStrike" dirty="0"/>
              <a:t>48</a:t>
            </a:r>
            <a:r>
              <a:rPr lang="en-US" sz="2000" dirty="0"/>
              <a:t> 50)/2 – 50 = 18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dirty="0"/>
              <a:t>Example 2</a:t>
            </a:r>
          </a:p>
          <a:p>
            <a:pPr marL="0" indent="0">
              <a:buNone/>
            </a:pPr>
            <a:r>
              <a:rPr lang="en-US" sz="2000" dirty="0"/>
              <a:t>High 40</a:t>
            </a:r>
          </a:p>
          <a:p>
            <a:pPr marL="0" indent="0">
              <a:buNone/>
            </a:pPr>
            <a:r>
              <a:rPr lang="en-US" sz="2000" dirty="0"/>
              <a:t>Low 32</a:t>
            </a:r>
          </a:p>
          <a:p>
            <a:pPr marL="0" indent="0">
              <a:buNone/>
            </a:pPr>
            <a:r>
              <a:rPr lang="en-US" sz="2000" dirty="0"/>
              <a:t>GDD: (</a:t>
            </a:r>
            <a:r>
              <a:rPr lang="en-US" sz="2000" strike="sngStrike" dirty="0"/>
              <a:t>40</a:t>
            </a:r>
            <a:r>
              <a:rPr lang="en-US" sz="2000" dirty="0"/>
              <a:t> 50 + </a:t>
            </a:r>
            <a:r>
              <a:rPr lang="en-US" sz="2000" strike="sngStrike" dirty="0"/>
              <a:t>32</a:t>
            </a:r>
            <a:r>
              <a:rPr lang="en-US" sz="2000" dirty="0"/>
              <a:t> 50)/2 – 50 = 0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4797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7" cy="6754813"/>
          </a:xfrm>
        </p:spPr>
      </p:pic>
      <p:sp>
        <p:nvSpPr>
          <p:cNvPr id="11" name="TextBox 10"/>
          <p:cNvSpPr txBox="1"/>
          <p:nvPr/>
        </p:nvSpPr>
        <p:spPr>
          <a:xfrm>
            <a:off x="6934200" y="111425"/>
            <a:ext cx="1333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4648200"/>
            <a:ext cx="1219200" cy="1371600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20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7" cy="6754812"/>
          </a:xfrm>
        </p:spPr>
      </p:pic>
      <p:sp>
        <p:nvSpPr>
          <p:cNvPr id="11" name="TextBox 10"/>
          <p:cNvSpPr txBox="1"/>
          <p:nvPr/>
        </p:nvSpPr>
        <p:spPr>
          <a:xfrm>
            <a:off x="7086600" y="111426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#108</a:t>
            </a:r>
          </a:p>
        </p:txBody>
      </p:sp>
    </p:spTree>
    <p:extLst>
      <p:ext uri="{BB962C8B-B14F-4D97-AF65-F5344CB8AC3E}">
        <p14:creationId xmlns:p14="http://schemas.microsoft.com/office/powerpoint/2010/main" val="23734953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2"/>
          </a:xfrm>
        </p:spPr>
      </p:pic>
      <p:sp>
        <p:nvSpPr>
          <p:cNvPr id="11" name="TextBox 10"/>
          <p:cNvSpPr txBox="1"/>
          <p:nvPr/>
        </p:nvSpPr>
        <p:spPr>
          <a:xfrm>
            <a:off x="7315200" y="18393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#179</a:t>
            </a:r>
          </a:p>
        </p:txBody>
      </p:sp>
    </p:spTree>
    <p:extLst>
      <p:ext uri="{BB962C8B-B14F-4D97-AF65-F5344CB8AC3E}">
        <p14:creationId xmlns:p14="http://schemas.microsoft.com/office/powerpoint/2010/main" val="2209987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7543800" y="124565"/>
            <a:ext cx="1333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#7</a:t>
            </a:r>
          </a:p>
        </p:txBody>
      </p:sp>
    </p:spTree>
    <p:extLst>
      <p:ext uri="{BB962C8B-B14F-4D97-AF65-F5344CB8AC3E}">
        <p14:creationId xmlns:p14="http://schemas.microsoft.com/office/powerpoint/2010/main" val="1847994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/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1455865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2197B673-FD5C-3C8C-3BE9-0AD15F1C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9143997" cy="68579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32705" y="6398696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600" y="1981200"/>
            <a:ext cx="1905000" cy="2895600"/>
          </a:xfrm>
          <a:prstGeom prst="round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93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6" y="-8238"/>
            <a:ext cx="9006414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5638800" y="6377241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#23</a:t>
            </a:r>
          </a:p>
        </p:txBody>
      </p:sp>
    </p:spTree>
    <p:extLst>
      <p:ext uri="{BB962C8B-B14F-4D97-AF65-F5344CB8AC3E}">
        <p14:creationId xmlns:p14="http://schemas.microsoft.com/office/powerpoint/2010/main" val="2989094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582" y="367029"/>
            <a:ext cx="8005702" cy="6004277"/>
          </a:xfrm>
        </p:spPr>
      </p:pic>
      <p:sp>
        <p:nvSpPr>
          <p:cNvPr id="11" name="TextBox 10"/>
          <p:cNvSpPr txBox="1"/>
          <p:nvPr/>
        </p:nvSpPr>
        <p:spPr>
          <a:xfrm>
            <a:off x="6781800" y="5334000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#93</a:t>
            </a:r>
          </a:p>
        </p:txBody>
      </p:sp>
    </p:spTree>
    <p:extLst>
      <p:ext uri="{BB962C8B-B14F-4D97-AF65-F5344CB8AC3E}">
        <p14:creationId xmlns:p14="http://schemas.microsoft.com/office/powerpoint/2010/main" val="28485044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/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3546275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5486400" y="6377241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#177</a:t>
            </a:r>
          </a:p>
        </p:txBody>
      </p:sp>
    </p:spTree>
    <p:extLst>
      <p:ext uri="{BB962C8B-B14F-4D97-AF65-F5344CB8AC3E}">
        <p14:creationId xmlns:p14="http://schemas.microsoft.com/office/powerpoint/2010/main" val="853609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2"/>
          </a:xfrm>
        </p:spPr>
      </p:pic>
      <p:sp>
        <p:nvSpPr>
          <p:cNvPr id="11" name="TextBox 10"/>
          <p:cNvSpPr txBox="1"/>
          <p:nvPr/>
        </p:nvSpPr>
        <p:spPr>
          <a:xfrm>
            <a:off x="6553200" y="6379870"/>
            <a:ext cx="1048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273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5715000" y="6377241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#177</a:t>
            </a:r>
          </a:p>
        </p:txBody>
      </p:sp>
    </p:spTree>
    <p:extLst>
      <p:ext uri="{BB962C8B-B14F-4D97-AF65-F5344CB8AC3E}">
        <p14:creationId xmlns:p14="http://schemas.microsoft.com/office/powerpoint/2010/main" val="19488480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/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34756647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6" y="-8238"/>
            <a:ext cx="9006414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4953000" y="6412468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#84</a:t>
            </a:r>
          </a:p>
        </p:txBody>
      </p:sp>
    </p:spTree>
    <p:extLst>
      <p:ext uri="{BB962C8B-B14F-4D97-AF65-F5344CB8AC3E}">
        <p14:creationId xmlns:p14="http://schemas.microsoft.com/office/powerpoint/2010/main" val="3648416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6" y="-8238"/>
            <a:ext cx="9006414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4953000" y="6412468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#84</a:t>
            </a:r>
          </a:p>
        </p:txBody>
      </p:sp>
    </p:spTree>
    <p:extLst>
      <p:ext uri="{BB962C8B-B14F-4D97-AF65-F5344CB8AC3E}">
        <p14:creationId xmlns:p14="http://schemas.microsoft.com/office/powerpoint/2010/main" val="3287596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/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1994130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6361056" y="159949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76400"/>
            <a:ext cx="1219200" cy="3810000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6885174" y="1066800"/>
            <a:ext cx="1268225" cy="4419600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33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February vs August Wind Rose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1843881"/>
            <a:ext cx="4038600" cy="4038600"/>
          </a:xfr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8200" y="1843881"/>
            <a:ext cx="4038600" cy="4038600"/>
          </a:xfrm>
        </p:spPr>
      </p:pic>
      <p:sp>
        <p:nvSpPr>
          <p:cNvPr id="9" name="TextBox 8"/>
          <p:cNvSpPr txBox="1"/>
          <p:nvPr/>
        </p:nvSpPr>
        <p:spPr>
          <a:xfrm>
            <a:off x="3980964" y="6019800"/>
            <a:ext cx="1048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Web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5348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D81EDA-AC63-C628-89BD-E7AAD9645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0268037-4A4D-0BDC-F61A-2658F96A75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922" y="1600200"/>
            <a:ext cx="8046156" cy="4525963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242587-B6F3-6CF1-8EEF-8CB20AAFF0E2}"/>
              </a:ext>
            </a:extLst>
          </p:cNvPr>
          <p:cNvSpPr txBox="1"/>
          <p:nvPr/>
        </p:nvSpPr>
        <p:spPr>
          <a:xfrm>
            <a:off x="7467600" y="1324253"/>
            <a:ext cx="686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linkClick r:id="rId3"/>
              </a:rPr>
              <a:t>Link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3307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0CA560-0D5C-7459-4CC9-AE4CD1F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1: Using IEM Explorer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EDF1C4-5A8F-EEA2-9354-C88B50B05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For your location</a:t>
            </a:r>
          </a:p>
          <a:p>
            <a:pPr lvl="1"/>
            <a:r>
              <a:rPr lang="en-US"/>
              <a:t>Find </a:t>
            </a:r>
            <a:r>
              <a:rPr lang="en-US" dirty="0"/>
              <a:t>nearest long term climate site</a:t>
            </a:r>
          </a:p>
          <a:p>
            <a:pPr lvl="1"/>
            <a:r>
              <a:rPr lang="en-US" dirty="0"/>
              <a:t>Find nearest airport weather station</a:t>
            </a:r>
          </a:p>
          <a:p>
            <a:r>
              <a:rPr lang="en-US"/>
              <a:t>Play around with various popular content links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811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574A57-B51D-DF22-1CC2-373973FA9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2: TPS Reports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F8A8B8-1D99-004D-A2EF-74D08E4961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T</a:t>
            </a:r>
            <a:r>
              <a:rPr lang="en-US" dirty="0"/>
              <a:t>emperature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P</a:t>
            </a:r>
            <a:r>
              <a:rPr lang="en-US" dirty="0"/>
              <a:t>recipitation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/>
              <a:t>now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Determine the July 2026 precipitation total and departure from average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496569F-51F5-AD9B-3554-918FCD1E7E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29150" y="2442996"/>
            <a:ext cx="3886200" cy="2830449"/>
          </a:xfrm>
        </p:spPr>
      </p:pic>
    </p:spTree>
    <p:extLst>
      <p:ext uri="{BB962C8B-B14F-4D97-AF65-F5344CB8AC3E}">
        <p14:creationId xmlns:p14="http://schemas.microsoft.com/office/powerpoint/2010/main" val="2177148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8A9A9F-F5A2-CF83-BDC2-5E89CFCF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3: Growing Season Totals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394539-F211-93FB-9746-33CC50217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map of 22 April to 22 August total precipitation for 2012 and 2026</a:t>
            </a:r>
          </a:p>
        </p:txBody>
      </p:sp>
    </p:spTree>
    <p:extLst>
      <p:ext uri="{BB962C8B-B14F-4D97-AF65-F5344CB8AC3E}">
        <p14:creationId xmlns:p14="http://schemas.microsoft.com/office/powerpoint/2010/main" val="1324563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C7D6E-4825-FC16-0EF6-66BAF5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4: Soil Temperatures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0BE45-AC2F-2F0B-D11B-94D659210A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a map of Iowa soil temperatures on 1 May 2026</a:t>
            </a:r>
          </a:p>
          <a:p>
            <a:r>
              <a:rPr lang="en-US" dirty="0"/>
              <a:t>Download the raw observations from the ISU Soil Moisture Network</a:t>
            </a:r>
          </a:p>
        </p:txBody>
      </p:sp>
    </p:spTree>
    <p:extLst>
      <p:ext uri="{BB962C8B-B14F-4D97-AF65-F5344CB8AC3E}">
        <p14:creationId xmlns:p14="http://schemas.microsoft.com/office/powerpoint/2010/main" val="10481609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4AFE4-B184-E5D3-7405-3844DA0AC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5: Solar Radiation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D827-1CEC-4DE4-C1E6-5C5F3E462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daily solar radiation estimates from NWS COOP sites for 2026 into Excel</a:t>
            </a:r>
          </a:p>
          <a:p>
            <a:r>
              <a:rPr lang="en-US" dirty="0"/>
              <a:t>Generate chart of daily observations from ISU Soil Moisture Network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07340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3B549-0D22-CEBD-ED42-7019C9A0E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6: IEM </a:t>
            </a:r>
            <a:r>
              <a:rPr lang="en-US" dirty="0" err="1"/>
              <a:t>Autoplot</a:t>
            </a:r>
            <a:r>
              <a:rPr lang="en-US" dirty="0"/>
              <a:t>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18FAF-041D-53BE-2C91-F6B44863F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a chart of Ni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n</a:t>
            </a:r>
            <a:r>
              <a:rPr lang="en-US" dirty="0"/>
              <a:t>o 3.4 index and Iowa precipitation departures</a:t>
            </a:r>
          </a:p>
          <a:p>
            <a:r>
              <a:rPr lang="en-US" dirty="0"/>
              <a:t>Download the raw data from the chart into Excel for further analysis.</a:t>
            </a:r>
          </a:p>
        </p:txBody>
      </p:sp>
    </p:spTree>
    <p:extLst>
      <p:ext uri="{BB962C8B-B14F-4D97-AF65-F5344CB8AC3E}">
        <p14:creationId xmlns:p14="http://schemas.microsoft.com/office/powerpoint/2010/main" val="24943205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C270E-DCBB-4069-F441-8FBDB43F4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7: NWS Warning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E7127-E41B-D06D-EC3A-5F85D1074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mom’s farm took damage on 28 June 2017.</a:t>
            </a:r>
          </a:p>
          <a:p>
            <a:pPr lvl="1"/>
            <a:r>
              <a:rPr lang="en-US" dirty="0"/>
              <a:t>Go find NWS Warning information and storm reports for the event</a:t>
            </a:r>
          </a:p>
          <a:p>
            <a:pPr lvl="1"/>
            <a:r>
              <a:rPr lang="en-US" dirty="0"/>
              <a:t>Step through RADAR maps to see the timing of the storm</a:t>
            </a:r>
          </a:p>
        </p:txBody>
      </p:sp>
    </p:spTree>
    <p:extLst>
      <p:ext uri="{BB962C8B-B14F-4D97-AF65-F5344CB8AC3E}">
        <p14:creationId xmlns:p14="http://schemas.microsoft.com/office/powerpoint/2010/main" val="40836036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69AE-DE71-4525-C55A-EAF5B579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8: Wind Roses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6FF7-21B7-74DC-ECF1-69B7631D6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wind rose for the day of 14 June 2026</a:t>
            </a:r>
          </a:p>
          <a:p>
            <a:r>
              <a:rPr lang="en-US" dirty="0"/>
              <a:t>Check out the pre-generated monthly/annual climatology plots</a:t>
            </a:r>
          </a:p>
        </p:txBody>
      </p:sp>
    </p:spTree>
    <p:extLst>
      <p:ext uri="{BB962C8B-B14F-4D97-AF65-F5344CB8AC3E}">
        <p14:creationId xmlns:p14="http://schemas.microsoft.com/office/powerpoint/2010/main" val="3474063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12866-ECF8-9579-B39C-7275B028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 Task 1: Webcam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79871-3B52-569A-92B4-9F5E775CA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did things look during the blizzard of 4 February 2021 around noon?</a:t>
            </a:r>
          </a:p>
          <a:p>
            <a:r>
              <a:rPr lang="en-US" dirty="0"/>
              <a:t>Check out </a:t>
            </a:r>
            <a:r>
              <a:rPr lang="en-US" dirty="0" err="1"/>
              <a:t>akrherz’s</a:t>
            </a:r>
            <a:r>
              <a:rPr lang="en-US" dirty="0"/>
              <a:t> YouTube Channel for fancy loops.</a:t>
            </a:r>
          </a:p>
        </p:txBody>
      </p:sp>
    </p:spTree>
    <p:extLst>
      <p:ext uri="{BB962C8B-B14F-4D97-AF65-F5344CB8AC3E}">
        <p14:creationId xmlns:p14="http://schemas.microsoft.com/office/powerpoint/2010/main" val="36939042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D4CB1-9A71-3CCB-071B-5DD2C9B52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Fun Task 2: High-Res Precipitation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A5FEA-FFA2-B1B2-FA76-BD35C2B67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fine scale map of precipitation estimates for 27 August 2022 for Winneshiek County</a:t>
            </a:r>
          </a:p>
          <a:p>
            <a:r>
              <a:rPr lang="en-US" dirty="0"/>
              <a:t>For the same area, generate a map of departures between 1 July and 25 August 2026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117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8382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OK, enough of my rambling…. Questions?</a:t>
            </a:r>
            <a:br>
              <a:rPr lang="en-US" dirty="0"/>
            </a:br>
            <a:r>
              <a:rPr lang="en-US" dirty="0">
                <a:hlinkClick r:id="rId2"/>
              </a:rPr>
              <a:t>https://mesonet.agron.iastate.edu</a:t>
            </a:r>
            <a:br>
              <a:rPr lang="en-US" dirty="0"/>
            </a:br>
            <a:r>
              <a:rPr lang="en-US" dirty="0"/>
              <a:t>“Info” Tab -&gt; Presentations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417" y="2747209"/>
            <a:ext cx="2723882" cy="3196391"/>
          </a:xfrm>
        </p:spPr>
      </p:pic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48200" y="3117347"/>
            <a:ext cx="4267200" cy="2286000"/>
          </a:xfrm>
        </p:spPr>
        <p:txBody>
          <a:bodyPr/>
          <a:lstStyle/>
          <a:p>
            <a:r>
              <a:rPr lang="en-US" dirty="0"/>
              <a:t>Twitter: @</a:t>
            </a:r>
            <a:r>
              <a:rPr lang="en-US" dirty="0" err="1"/>
              <a:t>akrherz</a:t>
            </a:r>
            <a:endParaRPr lang="en-US" dirty="0"/>
          </a:p>
          <a:p>
            <a:r>
              <a:rPr lang="en-US" dirty="0"/>
              <a:t>akrherz@iastate.edu</a:t>
            </a:r>
          </a:p>
          <a:p>
            <a:r>
              <a:rPr lang="en-US" dirty="0"/>
              <a:t>515-451-9249</a:t>
            </a:r>
          </a:p>
        </p:txBody>
      </p:sp>
    </p:spTree>
    <p:extLst>
      <p:ext uri="{BB962C8B-B14F-4D97-AF65-F5344CB8AC3E}">
        <p14:creationId xmlns:p14="http://schemas.microsoft.com/office/powerpoint/2010/main" val="3039039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1905</TotalTime>
  <Words>1172</Words>
  <Application>Microsoft Office PowerPoint</Application>
  <PresentationFormat>On-screen Show (4:3)</PresentationFormat>
  <Paragraphs>178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Cambria Math</vt:lpstr>
      <vt:lpstr>Cascadia Code</vt:lpstr>
      <vt:lpstr>Wingdings</vt:lpstr>
      <vt:lpstr>Office Theme</vt:lpstr>
      <vt:lpstr>Using the Mesonet Website For Fun and/or Profit</vt:lpstr>
      <vt:lpstr>Who am I and Why am I here?</vt:lpstr>
      <vt:lpstr>What is going on here? https://mesonet.agron.iastate.edu</vt:lpstr>
      <vt:lpstr>30,000 foot view of IEM</vt:lpstr>
      <vt:lpstr>So what exactly is the IEM?</vt:lpstr>
      <vt:lpstr>Augh daryl! I just want to know how much it rained and if we are above or below average for GDDs.</vt:lpstr>
      <vt:lpstr>TELL ME RAINFALL AND GDDs!</vt:lpstr>
      <vt:lpstr>PowerPoint Presentation</vt:lpstr>
      <vt:lpstr>Precipitation Variability</vt:lpstr>
      <vt:lpstr>Temperature Variability</vt:lpstr>
      <vt:lpstr>PowerPoint Presentation</vt:lpstr>
      <vt:lpstr>PowerPoint Presentation</vt:lpstr>
      <vt:lpstr>Plugging my IEM Daily Feature</vt:lpstr>
      <vt:lpstr>PowerPoint Presentation</vt:lpstr>
      <vt:lpstr>Which network should I use?</vt:lpstr>
      <vt:lpstr>Some Weather Variables to Monitor</vt:lpstr>
      <vt:lpstr>What are Growing Degree Days (GDD)?</vt:lpstr>
      <vt:lpstr>PowerPoint Presentation</vt:lpstr>
      <vt:lpstr>PowerPoint Presentation</vt:lpstr>
      <vt:lpstr>PowerPoint Presentation</vt:lpstr>
      <vt:lpstr>PowerPoint Presentation</vt:lpstr>
      <vt:lpstr>Some Weather Variables to Monitor</vt:lpstr>
      <vt:lpstr>PowerPoint Presentation</vt:lpstr>
      <vt:lpstr>PowerPoint Presentation</vt:lpstr>
      <vt:lpstr>PowerPoint Presentation</vt:lpstr>
      <vt:lpstr>Some Weather Variables to Monitor</vt:lpstr>
      <vt:lpstr>PowerPoint Presentation</vt:lpstr>
      <vt:lpstr>PowerPoint Presentation</vt:lpstr>
      <vt:lpstr>PowerPoint Presentation</vt:lpstr>
      <vt:lpstr>Some Weather Variables to Monitor</vt:lpstr>
      <vt:lpstr>PowerPoint Presentation</vt:lpstr>
      <vt:lpstr>PowerPoint Presentation</vt:lpstr>
      <vt:lpstr>Some Weather Variables to Monitor</vt:lpstr>
      <vt:lpstr>PowerPoint Presentation</vt:lpstr>
      <vt:lpstr>February vs August Wind Rose</vt:lpstr>
      <vt:lpstr>Putting it all Together</vt:lpstr>
      <vt:lpstr>Task 1: Using IEM Explorer</vt:lpstr>
      <vt:lpstr>Task 2: TPS Reports</vt:lpstr>
      <vt:lpstr>Task 3: Growing Season Totals</vt:lpstr>
      <vt:lpstr>Task 4: Soil Temperatures</vt:lpstr>
      <vt:lpstr>Task 5: Solar Radiation</vt:lpstr>
      <vt:lpstr>Task 6: IEM Autoplot Chart</vt:lpstr>
      <vt:lpstr>Task 7: NWS Warning Information</vt:lpstr>
      <vt:lpstr>Task 8: Wind Roses</vt:lpstr>
      <vt:lpstr>Fun Task 1: Webcam Archive</vt:lpstr>
      <vt:lpstr>Fun Task 2: High-Res Precipitation Maps</vt:lpstr>
      <vt:lpstr>OK, enough of my rambling…. Questions? https://mesonet.agron.iastate.edu “Info” Tab -&gt; Presentations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Daryl Herzmann</dc:creator>
  <cp:lastModifiedBy>Herzmann, Daryl E [AGRON]</cp:lastModifiedBy>
  <cp:revision>97</cp:revision>
  <dcterms:created xsi:type="dcterms:W3CDTF">2015-03-27T13:07:26Z</dcterms:created>
  <dcterms:modified xsi:type="dcterms:W3CDTF">2026-08-25T03:48:48Z</dcterms:modified>
</cp:coreProperties>
</file>