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5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3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_rels/presentation.xml.rels" ContentType="application/vnd.openxmlformats-package.relationships+xml"/>
  <Override PartName="/ppt/slideLayouts/_rels/slideLayout52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49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50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54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39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55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59.xml.rels" ContentType="application/vnd.openxmlformats-package.relationships+xml"/>
  <Override PartName="/ppt/slideLayouts/_rels/slideLayout56.xml.rels" ContentType="application/vnd.openxmlformats-package.relationships+xml"/>
  <Override PartName="/ppt/slideLayouts/_rels/slideLayout60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57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51.xml.rels" ContentType="application/vnd.openxmlformats-package.relationships+xml"/>
  <Override PartName="/ppt/slideLayouts/_rels/slideLayout58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53.xml.rels" ContentType="application/vnd.openxmlformats-package.relationships+xml"/>
  <Override PartName="/ppt/slideLayouts/slideLayout56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media/image11.png" ContentType="image/png"/>
  <Override PartName="/ppt/media/image9.png" ContentType="image/png"/>
  <Override PartName="/ppt/media/image29.gif" ContentType="image/gif"/>
  <Override PartName="/ppt/media/image12.png" ContentType="image/png"/>
  <Override PartName="/ppt/media/image7.png" ContentType="image/png"/>
  <Override PartName="/ppt/media/image4.gif" ContentType="image/gif"/>
  <Override PartName="/ppt/media/image10.png" ContentType="image/png"/>
  <Override PartName="/ppt/media/image6.jpeg" ContentType="image/jpeg"/>
  <Override PartName="/ppt/media/image5.png" ContentType="image/png"/>
  <Override PartName="/ppt/media/image28.png" ContentType="image/png"/>
  <Override PartName="/ppt/media/image13.png" ContentType="image/png"/>
  <Override PartName="/ppt/media/image8.png" ContentType="image/png"/>
  <Override PartName="/ppt/media/image2.jpeg" ContentType="image/jpeg"/>
  <Override PartName="/ppt/media/image3.jpeg" ContentType="image/jpeg"/>
  <Override PartName="/ppt/media/image15.png" ContentType="image/png"/>
  <Override PartName="/ppt/media/image27.png" ContentType="image/png"/>
  <Override PartName="/ppt/media/image26.png" ContentType="image/png"/>
  <Override PartName="/ppt/media/image14.png" ContentType="image/png"/>
  <Override PartName="/ppt/media/image25.png" ContentType="image/png"/>
  <Override PartName="/ppt/media/image23.png" ContentType="image/png"/>
  <Override PartName="/ppt/media/image22.png" ContentType="image/png"/>
  <Override PartName="/ppt/media/image21.png" ContentType="image/png"/>
  <Override PartName="/ppt/media/image19.png" ContentType="image/png"/>
  <Override PartName="/ppt/media/image20.png" ContentType="image/png"/>
  <Override PartName="/ppt/media/image18.png" ContentType="image/png"/>
  <Override PartName="/ppt/media/image17.png" ContentType="image/png"/>
  <Override PartName="/ppt/media/image16.png" ContentType="image/png"/>
  <Override PartName="/ppt/media/image1.png" ContentType="image/png"/>
  <Override PartName="/ppt/media/image24.png" ContentType="image/png"/>
  <Override PartName="/ppt/slides/slide29.xml" ContentType="application/vnd.openxmlformats-officedocument.presentationml.slide+xml"/>
  <Override PartName="/ppt/slides/slide28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25.xml" ContentType="application/vnd.openxmlformats-officedocument.presentationml.slide+xml"/>
  <Override PartName="/ppt/slides/slide24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21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17.xml" ContentType="application/vnd.openxmlformats-officedocument.presentationml.slide+xml"/>
  <Override PartName="/ppt/slides/slide16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_rels/slide4.xml.rels" ContentType="application/vnd.openxmlformats-package.relationships+xml"/>
  <Override PartName="/ppt/slides/_rels/slide47.xml.rels" ContentType="application/vnd.openxmlformats-package.relationships+xml"/>
  <Override PartName="/ppt/slides/_rels/slide5.xml.rels" ContentType="application/vnd.openxmlformats-package.relationships+xml"/>
  <Override PartName="/ppt/slides/_rels/slide40.xml.rels" ContentType="application/vnd.openxmlformats-package.relationships+xml"/>
  <Override PartName="/ppt/slides/_rels/slide33.xml.rels" ContentType="application/vnd.openxmlformats-package.relationships+xml"/>
  <Override PartName="/ppt/slides/_rels/slide6.xml.rels" ContentType="application/vnd.openxmlformats-package.relationships+xml"/>
  <Override PartName="/ppt/slides/_rels/slide41.xml.rels" ContentType="application/vnd.openxmlformats-package.relationships+xml"/>
  <Override PartName="/ppt/slides/_rels/slide34.xml.rels" ContentType="application/vnd.openxmlformats-package.relationships+xml"/>
  <Override PartName="/ppt/slides/_rels/slide7.xml.rels" ContentType="application/vnd.openxmlformats-package.relationships+xml"/>
  <Override PartName="/ppt/slides/_rels/slide42.xml.rels" ContentType="application/vnd.openxmlformats-package.relationships+xml"/>
  <Override PartName="/ppt/slides/_rels/slide35.xml.rels" ContentType="application/vnd.openxmlformats-package.relationships+xml"/>
  <Override PartName="/ppt/slides/_rels/slide1.xml.rels" ContentType="application/vnd.openxmlformats-package.relationships+xml"/>
  <Override PartName="/ppt/slides/_rels/slide20.xml.rels" ContentType="application/vnd.openxmlformats-package.relationships+xml"/>
  <Override PartName="/ppt/slides/_rels/slide10.xml.rels" ContentType="application/vnd.openxmlformats-package.relationships+xml"/>
  <Override PartName="/ppt/slides/_rels/slide32.xml.rels" ContentType="application/vnd.openxmlformats-package.relationships+xml"/>
  <Override PartName="/ppt/slides/_rels/slide16.xml.rels" ContentType="application/vnd.openxmlformats-package.relationships+xml"/>
  <Override PartName="/ppt/slides/_rels/slide25.xml.rels" ContentType="application/vnd.openxmlformats-package.relationships+xml"/>
  <Override PartName="/ppt/slides/_rels/slide46.xml.rels" ContentType="application/vnd.openxmlformats-package.relationships+xml"/>
  <Override PartName="/ppt/slides/_rels/slide30.xml.rels" ContentType="application/vnd.openxmlformats-package.relationships+xml"/>
  <Override PartName="/ppt/slides/_rels/slide45.xml.rels" ContentType="application/vnd.openxmlformats-package.relationships+xml"/>
  <Override PartName="/ppt/slides/_rels/slide14.xml.rels" ContentType="application/vnd.openxmlformats-package.relationships+xml"/>
  <Override PartName="/ppt/slides/_rels/slide29.xml.rels" ContentType="application/vnd.openxmlformats-package.relationships+xml"/>
  <Override PartName="/ppt/slides/_rels/slide23.xml.rels" ContentType="application/vnd.openxmlformats-package.relationships+xml"/>
  <Override PartName="/ppt/slides/_rels/slide38.xml.rels" ContentType="application/vnd.openxmlformats-package.relationships+xml"/>
  <Override PartName="/ppt/slides/_rels/slide15.xml.rels" ContentType="application/vnd.openxmlformats-package.relationships+xml"/>
  <Override PartName="/ppt/slides/_rels/slide31.xml.rels" ContentType="application/vnd.openxmlformats-package.relationships+xml"/>
  <Override PartName="/ppt/slides/_rels/slide24.xml.rels" ContentType="application/vnd.openxmlformats-package.relationships+xml"/>
  <Override PartName="/ppt/slides/_rels/slide39.xml.rels" ContentType="application/vnd.openxmlformats-package.relationships+xml"/>
  <Override PartName="/ppt/slides/_rels/slide13.xml.rels" ContentType="application/vnd.openxmlformats-package.relationships+xml"/>
  <Override PartName="/ppt/slides/_rels/slide19.xml.rels" ContentType="application/vnd.openxmlformats-package.relationships+xml"/>
  <Override PartName="/ppt/slides/_rels/slide18.xml.rels" ContentType="application/vnd.openxmlformats-package.relationships+xml"/>
  <Override PartName="/ppt/slides/_rels/slide12.xml.rels" ContentType="application/vnd.openxmlformats-package.relationships+xml"/>
  <Override PartName="/ppt/slides/_rels/slide28.xml.rels" ContentType="application/vnd.openxmlformats-package.relationships+xml"/>
  <Override PartName="/ppt/slides/_rels/slide44.xml.rels" ContentType="application/vnd.openxmlformats-package.relationships+xml"/>
  <Override PartName="/ppt/slides/_rels/slide22.xml.rels" ContentType="application/vnd.openxmlformats-package.relationships+xml"/>
  <Override PartName="/ppt/slides/_rels/slide37.xml.rels" ContentType="application/vnd.openxmlformats-package.relationships+xml"/>
  <Override PartName="/ppt/slides/_rels/slide3.xml.rels" ContentType="application/vnd.openxmlformats-package.relationships+xml"/>
  <Override PartName="/ppt/slides/_rels/slide9.xml.rels" ContentType="application/vnd.openxmlformats-package.relationships+xml"/>
  <Override PartName="/ppt/slides/_rels/slide26.xml.rels" ContentType="application/vnd.openxmlformats-package.relationships+xml"/>
  <Override PartName="/ppt/slides/_rels/slide11.xml.rels" ContentType="application/vnd.openxmlformats-package.relationships+xml"/>
  <Override PartName="/ppt/slides/_rels/slide17.xml.rels" ContentType="application/vnd.openxmlformats-package.relationships+xml"/>
  <Override PartName="/ppt/slides/_rels/slide8.xml.rels" ContentType="application/vnd.openxmlformats-package.relationships+xml"/>
  <Override PartName="/ppt/slides/_rels/slide21.xml.rels" ContentType="application/vnd.openxmlformats-package.relationships+xml"/>
  <Override PartName="/ppt/slides/_rels/slide36.xml.rels" ContentType="application/vnd.openxmlformats-package.relationships+xml"/>
  <Override PartName="/ppt/slides/_rels/slide27.xml.rels" ContentType="application/vnd.openxmlformats-package.relationships+xml"/>
  <Override PartName="/ppt/slides/_rels/slide43.xml.rels" ContentType="application/vnd.openxmlformats-package.relationships+xml"/>
  <Override PartName="/ppt/slides/_rels/slide2.xml.rels" ContentType="application/vnd.openxmlformats-package.relationships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13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3.xml" ContentType="application/vnd.openxmlformats-officedocument.presentationml.slide+xml"/>
  <Override PartName="/ppt/slides/slide33.xml" ContentType="application/vnd.openxmlformats-officedocument.presentationml.slide+xml"/>
  <Override PartName="/ppt/slides/slide45.xml" ContentType="application/vnd.openxmlformats-officedocument.presentationml.slide+xml"/>
  <Override PartName="/ppt/slides/slide34.xml" ContentType="application/vnd.openxmlformats-officedocument.presentationml.slide+xml"/>
  <Override PartName="/ppt/slides/slide46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0.xml" ContentType="application/vnd.openxmlformats-officedocument.presentationml.slide+xml"/>
  <Override PartName="/ppt/slides/slide47.xml" ContentType="application/vnd.openxmlformats-officedocument.presentationml.slide+xml"/>
  <Override PartName="/ppt/slides/slide9.xml" ContentType="application/vnd.openxmlformats-officedocument.presentationml.slide+xml"/>
  <Override PartName="/ppt/slides/slide44.xml" ContentType="application/vnd.openxmlformats-officedocument.presentationml.slide+xml"/>
  <Override PartName="/ppt/slides/slide41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43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42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87" r:id="rId5"/>
    <p:sldMasterId id="2147483700" r:id="rId6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</p:sldIdLst>
  <p:sldSz cx="9144000" cy="6858000"/>
  <p:notesSz cx="7772400" cy="10058400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1970280" cy="4525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2526480" y="1600200"/>
            <a:ext cx="1970280" cy="4525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457200" y="274680"/>
            <a:ext cx="8229240" cy="52977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197028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2526480" y="1600200"/>
            <a:ext cx="1970280" cy="4525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457200" y="3964320"/>
            <a:ext cx="197028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1970280" cy="4525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2526480" y="1600200"/>
            <a:ext cx="197028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2526480" y="3964320"/>
            <a:ext cx="197028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197028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2526480" y="1600200"/>
            <a:ext cx="197028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457200" y="3964320"/>
            <a:ext cx="403812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57200" y="3964320"/>
            <a:ext cx="403812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197028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2526480" y="1600200"/>
            <a:ext cx="197028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964320"/>
            <a:ext cx="197028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2526480" y="3964320"/>
            <a:ext cx="197028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129996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1822680" y="1600200"/>
            <a:ext cx="129996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>
          <a:xfrm>
            <a:off x="3187800" y="1600200"/>
            <a:ext cx="129996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457200" y="3964320"/>
            <a:ext cx="129996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body"/>
          </p:nvPr>
        </p:nvSpPr>
        <p:spPr>
          <a:xfrm>
            <a:off x="1822680" y="3964320"/>
            <a:ext cx="129996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 type="body"/>
          </p:nvPr>
        </p:nvSpPr>
        <p:spPr>
          <a:xfrm>
            <a:off x="3187800" y="3964320"/>
            <a:ext cx="129996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1970280" cy="4525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body"/>
          </p:nvPr>
        </p:nvSpPr>
        <p:spPr>
          <a:xfrm>
            <a:off x="2526480" y="1600200"/>
            <a:ext cx="1970280" cy="4525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subTitle"/>
          </p:nvPr>
        </p:nvSpPr>
        <p:spPr>
          <a:xfrm>
            <a:off x="457200" y="274680"/>
            <a:ext cx="8229240" cy="52977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197028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body"/>
          </p:nvPr>
        </p:nvSpPr>
        <p:spPr>
          <a:xfrm>
            <a:off x="2526480" y="1600200"/>
            <a:ext cx="1970280" cy="4525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body"/>
          </p:nvPr>
        </p:nvSpPr>
        <p:spPr>
          <a:xfrm>
            <a:off x="457200" y="3964320"/>
            <a:ext cx="197028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1970280" cy="4525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body"/>
          </p:nvPr>
        </p:nvSpPr>
        <p:spPr>
          <a:xfrm>
            <a:off x="2526480" y="1600200"/>
            <a:ext cx="197028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body"/>
          </p:nvPr>
        </p:nvSpPr>
        <p:spPr>
          <a:xfrm>
            <a:off x="2526480" y="3964320"/>
            <a:ext cx="197028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197028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body"/>
          </p:nvPr>
        </p:nvSpPr>
        <p:spPr>
          <a:xfrm>
            <a:off x="2526480" y="1600200"/>
            <a:ext cx="197028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 type="body"/>
          </p:nvPr>
        </p:nvSpPr>
        <p:spPr>
          <a:xfrm>
            <a:off x="457200" y="3964320"/>
            <a:ext cx="403812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 type="body"/>
          </p:nvPr>
        </p:nvSpPr>
        <p:spPr>
          <a:xfrm>
            <a:off x="457200" y="3964320"/>
            <a:ext cx="403812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197028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body"/>
          </p:nvPr>
        </p:nvSpPr>
        <p:spPr>
          <a:xfrm>
            <a:off x="2526480" y="1600200"/>
            <a:ext cx="197028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 type="body"/>
          </p:nvPr>
        </p:nvSpPr>
        <p:spPr>
          <a:xfrm>
            <a:off x="457200" y="3964320"/>
            <a:ext cx="197028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5" name="PlaceHolder 5"/>
          <p:cNvSpPr>
            <a:spLocks noGrp="1"/>
          </p:cNvSpPr>
          <p:nvPr>
            <p:ph type="body"/>
          </p:nvPr>
        </p:nvSpPr>
        <p:spPr>
          <a:xfrm>
            <a:off x="2526480" y="3964320"/>
            <a:ext cx="197028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129996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 type="body"/>
          </p:nvPr>
        </p:nvSpPr>
        <p:spPr>
          <a:xfrm>
            <a:off x="1822680" y="1600200"/>
            <a:ext cx="129996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9" name="PlaceHolder 4"/>
          <p:cNvSpPr>
            <a:spLocks noGrp="1"/>
          </p:cNvSpPr>
          <p:nvPr>
            <p:ph type="body"/>
          </p:nvPr>
        </p:nvSpPr>
        <p:spPr>
          <a:xfrm>
            <a:off x="3187800" y="1600200"/>
            <a:ext cx="129996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0" name="PlaceHolder 5"/>
          <p:cNvSpPr>
            <a:spLocks noGrp="1"/>
          </p:cNvSpPr>
          <p:nvPr>
            <p:ph type="body"/>
          </p:nvPr>
        </p:nvSpPr>
        <p:spPr>
          <a:xfrm>
            <a:off x="457200" y="3964320"/>
            <a:ext cx="129996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1" name="PlaceHolder 6"/>
          <p:cNvSpPr>
            <a:spLocks noGrp="1"/>
          </p:cNvSpPr>
          <p:nvPr>
            <p:ph type="body"/>
          </p:nvPr>
        </p:nvSpPr>
        <p:spPr>
          <a:xfrm>
            <a:off x="1822680" y="3964320"/>
            <a:ext cx="129996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2" name="PlaceHolder 7"/>
          <p:cNvSpPr>
            <a:spLocks noGrp="1"/>
          </p:cNvSpPr>
          <p:nvPr>
            <p:ph type="body"/>
          </p:nvPr>
        </p:nvSpPr>
        <p:spPr>
          <a:xfrm>
            <a:off x="3187800" y="3964320"/>
            <a:ext cx="129996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1970280" cy="4525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4" name="PlaceHolder 3"/>
          <p:cNvSpPr>
            <a:spLocks noGrp="1"/>
          </p:cNvSpPr>
          <p:nvPr>
            <p:ph type="body"/>
          </p:nvPr>
        </p:nvSpPr>
        <p:spPr>
          <a:xfrm>
            <a:off x="2526480" y="1600200"/>
            <a:ext cx="1970280" cy="4525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subTitle"/>
          </p:nvPr>
        </p:nvSpPr>
        <p:spPr>
          <a:xfrm>
            <a:off x="457200" y="274680"/>
            <a:ext cx="8229240" cy="52977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197028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9" name="PlaceHolder 3"/>
          <p:cNvSpPr>
            <a:spLocks noGrp="1"/>
          </p:cNvSpPr>
          <p:nvPr>
            <p:ph type="body"/>
          </p:nvPr>
        </p:nvSpPr>
        <p:spPr>
          <a:xfrm>
            <a:off x="2526480" y="1600200"/>
            <a:ext cx="1970280" cy="4525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0" name="PlaceHolder 4"/>
          <p:cNvSpPr>
            <a:spLocks noGrp="1"/>
          </p:cNvSpPr>
          <p:nvPr>
            <p:ph type="body"/>
          </p:nvPr>
        </p:nvSpPr>
        <p:spPr>
          <a:xfrm>
            <a:off x="457200" y="3964320"/>
            <a:ext cx="197028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1970280" cy="4525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3" name="PlaceHolder 3"/>
          <p:cNvSpPr>
            <a:spLocks noGrp="1"/>
          </p:cNvSpPr>
          <p:nvPr>
            <p:ph type="body"/>
          </p:nvPr>
        </p:nvSpPr>
        <p:spPr>
          <a:xfrm>
            <a:off x="2526480" y="1600200"/>
            <a:ext cx="197028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4" name="PlaceHolder 4"/>
          <p:cNvSpPr>
            <a:spLocks noGrp="1"/>
          </p:cNvSpPr>
          <p:nvPr>
            <p:ph type="body"/>
          </p:nvPr>
        </p:nvSpPr>
        <p:spPr>
          <a:xfrm>
            <a:off x="2526480" y="3964320"/>
            <a:ext cx="197028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197028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7" name="PlaceHolder 3"/>
          <p:cNvSpPr>
            <a:spLocks noGrp="1"/>
          </p:cNvSpPr>
          <p:nvPr>
            <p:ph type="body"/>
          </p:nvPr>
        </p:nvSpPr>
        <p:spPr>
          <a:xfrm>
            <a:off x="2526480" y="1600200"/>
            <a:ext cx="197028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8" name="PlaceHolder 4"/>
          <p:cNvSpPr>
            <a:spLocks noGrp="1"/>
          </p:cNvSpPr>
          <p:nvPr>
            <p:ph type="body"/>
          </p:nvPr>
        </p:nvSpPr>
        <p:spPr>
          <a:xfrm>
            <a:off x="457200" y="3964320"/>
            <a:ext cx="403812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1" name="PlaceHolder 3"/>
          <p:cNvSpPr>
            <a:spLocks noGrp="1"/>
          </p:cNvSpPr>
          <p:nvPr>
            <p:ph type="body"/>
          </p:nvPr>
        </p:nvSpPr>
        <p:spPr>
          <a:xfrm>
            <a:off x="457200" y="3964320"/>
            <a:ext cx="403812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3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197028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4" name="PlaceHolder 3"/>
          <p:cNvSpPr>
            <a:spLocks noGrp="1"/>
          </p:cNvSpPr>
          <p:nvPr>
            <p:ph type="body"/>
          </p:nvPr>
        </p:nvSpPr>
        <p:spPr>
          <a:xfrm>
            <a:off x="2526480" y="1600200"/>
            <a:ext cx="197028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5" name="PlaceHolder 4"/>
          <p:cNvSpPr>
            <a:spLocks noGrp="1"/>
          </p:cNvSpPr>
          <p:nvPr>
            <p:ph type="body"/>
          </p:nvPr>
        </p:nvSpPr>
        <p:spPr>
          <a:xfrm>
            <a:off x="457200" y="3964320"/>
            <a:ext cx="197028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6" name="PlaceHolder 5"/>
          <p:cNvSpPr>
            <a:spLocks noGrp="1"/>
          </p:cNvSpPr>
          <p:nvPr>
            <p:ph type="body"/>
          </p:nvPr>
        </p:nvSpPr>
        <p:spPr>
          <a:xfrm>
            <a:off x="2526480" y="3964320"/>
            <a:ext cx="197028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129996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9" name="PlaceHolder 3"/>
          <p:cNvSpPr>
            <a:spLocks noGrp="1"/>
          </p:cNvSpPr>
          <p:nvPr>
            <p:ph type="body"/>
          </p:nvPr>
        </p:nvSpPr>
        <p:spPr>
          <a:xfrm>
            <a:off x="1822680" y="1600200"/>
            <a:ext cx="129996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0" name="PlaceHolder 4"/>
          <p:cNvSpPr>
            <a:spLocks noGrp="1"/>
          </p:cNvSpPr>
          <p:nvPr>
            <p:ph type="body"/>
          </p:nvPr>
        </p:nvSpPr>
        <p:spPr>
          <a:xfrm>
            <a:off x="3187800" y="1600200"/>
            <a:ext cx="129996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1" name="PlaceHolder 5"/>
          <p:cNvSpPr>
            <a:spLocks noGrp="1"/>
          </p:cNvSpPr>
          <p:nvPr>
            <p:ph type="body"/>
          </p:nvPr>
        </p:nvSpPr>
        <p:spPr>
          <a:xfrm>
            <a:off x="457200" y="3964320"/>
            <a:ext cx="129996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2" name="PlaceHolder 6"/>
          <p:cNvSpPr>
            <a:spLocks noGrp="1"/>
          </p:cNvSpPr>
          <p:nvPr>
            <p:ph type="body"/>
          </p:nvPr>
        </p:nvSpPr>
        <p:spPr>
          <a:xfrm>
            <a:off x="1822680" y="3964320"/>
            <a:ext cx="129996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3" name="PlaceHolder 7"/>
          <p:cNvSpPr>
            <a:spLocks noGrp="1"/>
          </p:cNvSpPr>
          <p:nvPr>
            <p:ph type="body"/>
          </p:nvPr>
        </p:nvSpPr>
        <p:spPr>
          <a:xfrm>
            <a:off x="3187800" y="3964320"/>
            <a:ext cx="129996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0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1970280" cy="4525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5" name="PlaceHolder 3"/>
          <p:cNvSpPr>
            <a:spLocks noGrp="1"/>
          </p:cNvSpPr>
          <p:nvPr>
            <p:ph type="body"/>
          </p:nvPr>
        </p:nvSpPr>
        <p:spPr>
          <a:xfrm>
            <a:off x="2526480" y="1600200"/>
            <a:ext cx="1970280" cy="4525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subTitle"/>
          </p:nvPr>
        </p:nvSpPr>
        <p:spPr>
          <a:xfrm>
            <a:off x="457200" y="274680"/>
            <a:ext cx="8229240" cy="52977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197028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0" name="PlaceHolder 3"/>
          <p:cNvSpPr>
            <a:spLocks noGrp="1"/>
          </p:cNvSpPr>
          <p:nvPr>
            <p:ph type="body"/>
          </p:nvPr>
        </p:nvSpPr>
        <p:spPr>
          <a:xfrm>
            <a:off x="2526480" y="1600200"/>
            <a:ext cx="1970280" cy="4525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1" name="PlaceHolder 4"/>
          <p:cNvSpPr>
            <a:spLocks noGrp="1"/>
          </p:cNvSpPr>
          <p:nvPr>
            <p:ph type="body"/>
          </p:nvPr>
        </p:nvSpPr>
        <p:spPr>
          <a:xfrm>
            <a:off x="457200" y="3964320"/>
            <a:ext cx="197028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3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1970280" cy="4525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4" name="PlaceHolder 3"/>
          <p:cNvSpPr>
            <a:spLocks noGrp="1"/>
          </p:cNvSpPr>
          <p:nvPr>
            <p:ph type="body"/>
          </p:nvPr>
        </p:nvSpPr>
        <p:spPr>
          <a:xfrm>
            <a:off x="2526480" y="1600200"/>
            <a:ext cx="197028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5" name="PlaceHolder 4"/>
          <p:cNvSpPr>
            <a:spLocks noGrp="1"/>
          </p:cNvSpPr>
          <p:nvPr>
            <p:ph type="body"/>
          </p:nvPr>
        </p:nvSpPr>
        <p:spPr>
          <a:xfrm>
            <a:off x="2526480" y="3964320"/>
            <a:ext cx="197028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197028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8" name="PlaceHolder 3"/>
          <p:cNvSpPr>
            <a:spLocks noGrp="1"/>
          </p:cNvSpPr>
          <p:nvPr>
            <p:ph type="body"/>
          </p:nvPr>
        </p:nvSpPr>
        <p:spPr>
          <a:xfrm>
            <a:off x="2526480" y="1600200"/>
            <a:ext cx="197028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9" name="PlaceHolder 4"/>
          <p:cNvSpPr>
            <a:spLocks noGrp="1"/>
          </p:cNvSpPr>
          <p:nvPr>
            <p:ph type="body"/>
          </p:nvPr>
        </p:nvSpPr>
        <p:spPr>
          <a:xfrm>
            <a:off x="457200" y="3964320"/>
            <a:ext cx="403812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2" name="PlaceHolder 3"/>
          <p:cNvSpPr>
            <a:spLocks noGrp="1"/>
          </p:cNvSpPr>
          <p:nvPr>
            <p:ph type="body"/>
          </p:nvPr>
        </p:nvSpPr>
        <p:spPr>
          <a:xfrm>
            <a:off x="457200" y="3964320"/>
            <a:ext cx="403812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197028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5" name="PlaceHolder 3"/>
          <p:cNvSpPr>
            <a:spLocks noGrp="1"/>
          </p:cNvSpPr>
          <p:nvPr>
            <p:ph type="body"/>
          </p:nvPr>
        </p:nvSpPr>
        <p:spPr>
          <a:xfrm>
            <a:off x="2526480" y="1600200"/>
            <a:ext cx="197028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6" name="PlaceHolder 4"/>
          <p:cNvSpPr>
            <a:spLocks noGrp="1"/>
          </p:cNvSpPr>
          <p:nvPr>
            <p:ph type="body"/>
          </p:nvPr>
        </p:nvSpPr>
        <p:spPr>
          <a:xfrm>
            <a:off x="457200" y="3964320"/>
            <a:ext cx="197028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7" name="PlaceHolder 5"/>
          <p:cNvSpPr>
            <a:spLocks noGrp="1"/>
          </p:cNvSpPr>
          <p:nvPr>
            <p:ph type="body"/>
          </p:nvPr>
        </p:nvSpPr>
        <p:spPr>
          <a:xfrm>
            <a:off x="2526480" y="3964320"/>
            <a:ext cx="197028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129996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0" name="PlaceHolder 3"/>
          <p:cNvSpPr>
            <a:spLocks noGrp="1"/>
          </p:cNvSpPr>
          <p:nvPr>
            <p:ph type="body"/>
          </p:nvPr>
        </p:nvSpPr>
        <p:spPr>
          <a:xfrm>
            <a:off x="1822680" y="1600200"/>
            <a:ext cx="129996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1" name="PlaceHolder 4"/>
          <p:cNvSpPr>
            <a:spLocks noGrp="1"/>
          </p:cNvSpPr>
          <p:nvPr>
            <p:ph type="body"/>
          </p:nvPr>
        </p:nvSpPr>
        <p:spPr>
          <a:xfrm>
            <a:off x="3187800" y="1600200"/>
            <a:ext cx="129996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2" name="PlaceHolder 5"/>
          <p:cNvSpPr>
            <a:spLocks noGrp="1"/>
          </p:cNvSpPr>
          <p:nvPr>
            <p:ph type="body"/>
          </p:nvPr>
        </p:nvSpPr>
        <p:spPr>
          <a:xfrm>
            <a:off x="457200" y="3964320"/>
            <a:ext cx="129996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3" name="PlaceHolder 6"/>
          <p:cNvSpPr>
            <a:spLocks noGrp="1"/>
          </p:cNvSpPr>
          <p:nvPr>
            <p:ph type="body"/>
          </p:nvPr>
        </p:nvSpPr>
        <p:spPr>
          <a:xfrm>
            <a:off x="1822680" y="3964320"/>
            <a:ext cx="129996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4" name="PlaceHolder 7"/>
          <p:cNvSpPr>
            <a:spLocks noGrp="1"/>
          </p:cNvSpPr>
          <p:nvPr>
            <p:ph type="body"/>
          </p:nvPr>
        </p:nvSpPr>
        <p:spPr>
          <a:xfrm>
            <a:off x="3187800" y="3964320"/>
            <a:ext cx="129996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3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1970280" cy="4525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6" name="PlaceHolder 3"/>
          <p:cNvSpPr>
            <a:spLocks noGrp="1"/>
          </p:cNvSpPr>
          <p:nvPr>
            <p:ph type="body"/>
          </p:nvPr>
        </p:nvSpPr>
        <p:spPr>
          <a:xfrm>
            <a:off x="2526480" y="1600200"/>
            <a:ext cx="1970280" cy="4525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subTitle"/>
          </p:nvPr>
        </p:nvSpPr>
        <p:spPr>
          <a:xfrm>
            <a:off x="457200" y="274680"/>
            <a:ext cx="8229240" cy="52977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197028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1" name="PlaceHolder 3"/>
          <p:cNvSpPr>
            <a:spLocks noGrp="1"/>
          </p:cNvSpPr>
          <p:nvPr>
            <p:ph type="body"/>
          </p:nvPr>
        </p:nvSpPr>
        <p:spPr>
          <a:xfrm>
            <a:off x="2526480" y="1600200"/>
            <a:ext cx="1970280" cy="4525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2" name="PlaceHolder 4"/>
          <p:cNvSpPr>
            <a:spLocks noGrp="1"/>
          </p:cNvSpPr>
          <p:nvPr>
            <p:ph type="body"/>
          </p:nvPr>
        </p:nvSpPr>
        <p:spPr>
          <a:xfrm>
            <a:off x="457200" y="3964320"/>
            <a:ext cx="197028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1970280" cy="4525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5" name="PlaceHolder 3"/>
          <p:cNvSpPr>
            <a:spLocks noGrp="1"/>
          </p:cNvSpPr>
          <p:nvPr>
            <p:ph type="body"/>
          </p:nvPr>
        </p:nvSpPr>
        <p:spPr>
          <a:xfrm>
            <a:off x="2526480" y="1600200"/>
            <a:ext cx="197028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6" name="PlaceHolder 4"/>
          <p:cNvSpPr>
            <a:spLocks noGrp="1"/>
          </p:cNvSpPr>
          <p:nvPr>
            <p:ph type="body"/>
          </p:nvPr>
        </p:nvSpPr>
        <p:spPr>
          <a:xfrm>
            <a:off x="2526480" y="3964320"/>
            <a:ext cx="197028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197028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9" name="PlaceHolder 3"/>
          <p:cNvSpPr>
            <a:spLocks noGrp="1"/>
          </p:cNvSpPr>
          <p:nvPr>
            <p:ph type="body"/>
          </p:nvPr>
        </p:nvSpPr>
        <p:spPr>
          <a:xfrm>
            <a:off x="2526480" y="1600200"/>
            <a:ext cx="197028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0" name="PlaceHolder 4"/>
          <p:cNvSpPr>
            <a:spLocks noGrp="1"/>
          </p:cNvSpPr>
          <p:nvPr>
            <p:ph type="body"/>
          </p:nvPr>
        </p:nvSpPr>
        <p:spPr>
          <a:xfrm>
            <a:off x="457200" y="3964320"/>
            <a:ext cx="403812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3" name="PlaceHolder 3"/>
          <p:cNvSpPr>
            <a:spLocks noGrp="1"/>
          </p:cNvSpPr>
          <p:nvPr>
            <p:ph type="body"/>
          </p:nvPr>
        </p:nvSpPr>
        <p:spPr>
          <a:xfrm>
            <a:off x="457200" y="3964320"/>
            <a:ext cx="403812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197028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6" name="PlaceHolder 3"/>
          <p:cNvSpPr>
            <a:spLocks noGrp="1"/>
          </p:cNvSpPr>
          <p:nvPr>
            <p:ph type="body"/>
          </p:nvPr>
        </p:nvSpPr>
        <p:spPr>
          <a:xfrm>
            <a:off x="2526480" y="1600200"/>
            <a:ext cx="197028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7" name="PlaceHolder 4"/>
          <p:cNvSpPr>
            <a:spLocks noGrp="1"/>
          </p:cNvSpPr>
          <p:nvPr>
            <p:ph type="body"/>
          </p:nvPr>
        </p:nvSpPr>
        <p:spPr>
          <a:xfrm>
            <a:off x="457200" y="3964320"/>
            <a:ext cx="197028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8" name="PlaceHolder 5"/>
          <p:cNvSpPr>
            <a:spLocks noGrp="1"/>
          </p:cNvSpPr>
          <p:nvPr>
            <p:ph type="body"/>
          </p:nvPr>
        </p:nvSpPr>
        <p:spPr>
          <a:xfrm>
            <a:off x="2526480" y="3964320"/>
            <a:ext cx="197028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129996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1" name="PlaceHolder 3"/>
          <p:cNvSpPr>
            <a:spLocks noGrp="1"/>
          </p:cNvSpPr>
          <p:nvPr>
            <p:ph type="body"/>
          </p:nvPr>
        </p:nvSpPr>
        <p:spPr>
          <a:xfrm>
            <a:off x="1822680" y="1600200"/>
            <a:ext cx="129996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2" name="PlaceHolder 4"/>
          <p:cNvSpPr>
            <a:spLocks noGrp="1"/>
          </p:cNvSpPr>
          <p:nvPr>
            <p:ph type="body"/>
          </p:nvPr>
        </p:nvSpPr>
        <p:spPr>
          <a:xfrm>
            <a:off x="3187800" y="1600200"/>
            <a:ext cx="129996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3" name="PlaceHolder 5"/>
          <p:cNvSpPr>
            <a:spLocks noGrp="1"/>
          </p:cNvSpPr>
          <p:nvPr>
            <p:ph type="body"/>
          </p:nvPr>
        </p:nvSpPr>
        <p:spPr>
          <a:xfrm>
            <a:off x="457200" y="3964320"/>
            <a:ext cx="129996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4" name="PlaceHolder 6"/>
          <p:cNvSpPr>
            <a:spLocks noGrp="1"/>
          </p:cNvSpPr>
          <p:nvPr>
            <p:ph type="body"/>
          </p:nvPr>
        </p:nvSpPr>
        <p:spPr>
          <a:xfrm>
            <a:off x="1822680" y="3964320"/>
            <a:ext cx="129996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5" name="PlaceHolder 7"/>
          <p:cNvSpPr>
            <a:spLocks noGrp="1"/>
          </p:cNvSpPr>
          <p:nvPr>
            <p:ph type="body"/>
          </p:nvPr>
        </p:nvSpPr>
        <p:spPr>
          <a:xfrm>
            <a:off x="3187800" y="3964320"/>
            <a:ext cx="129996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6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9.xml"/><Relationship Id="rId5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47.xml"/><Relationship Id="rId13" Type="http://schemas.openxmlformats.org/officeDocument/2006/relationships/slideLayout" Target="../slideLayouts/slideLayout48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49.xml"/><Relationship Id="rId3" Type="http://schemas.openxmlformats.org/officeDocument/2006/relationships/slideLayout" Target="../slideLayouts/slideLayout50.xml"/><Relationship Id="rId4" Type="http://schemas.openxmlformats.org/officeDocument/2006/relationships/slideLayout" Target="../slideLayouts/slideLayout51.xml"/><Relationship Id="rId5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3.xml"/><Relationship Id="rId7" Type="http://schemas.openxmlformats.org/officeDocument/2006/relationships/slideLayout" Target="../slideLayouts/slideLayout54.xml"/><Relationship Id="rId8" Type="http://schemas.openxmlformats.org/officeDocument/2006/relationships/slideLayout" Target="../slideLayouts/slideLayout55.xml"/><Relationship Id="rId9" Type="http://schemas.openxmlformats.org/officeDocument/2006/relationships/slideLayout" Target="../slideLayouts/slideLayout56.xml"/><Relationship Id="rId10" Type="http://schemas.openxmlformats.org/officeDocument/2006/relationships/slideLayout" Target="../slideLayouts/slideLayout57.xml"/><Relationship Id="rId11" Type="http://schemas.openxmlformats.org/officeDocument/2006/relationships/slideLayout" Target="../slideLayouts/slideLayout58.xml"/><Relationship Id="rId12" Type="http://schemas.openxmlformats.org/officeDocument/2006/relationships/slideLayout" Target="../slideLayouts/slideLayout59.xml"/><Relationship Id="rId13" Type="http://schemas.openxmlformats.org/officeDocument/2006/relationships/slideLayout" Target="../slideLayouts/slideLayout60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</p:spPr>
        <p:txBody>
          <a:bodyPr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p>
            <a:pPr>
              <a:lnSpc>
                <a:spcPct val="100000"/>
              </a:lnSpc>
            </a:pPr>
            <a:fld id="{4085A7CA-792C-4FED-B439-C5E0895BD032}" type="datetime">
              <a:rPr b="0" lang="en-US" sz="1200" spc="-1" strike="noStrike">
                <a:solidFill>
                  <a:srgbClr val="8b8b8b"/>
                </a:solidFill>
                <a:latin typeface="Calibri"/>
              </a:rPr>
              <a:t>8/25/26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p>
            <a:endParaRPr b="0" lang="en-US" sz="2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p>
            <a:pPr algn="r">
              <a:lnSpc>
                <a:spcPct val="100000"/>
              </a:lnSpc>
            </a:pPr>
            <a:fld id="{D89BDBF1-B36D-4592-BFA2-A2D91263D97F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36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Click to edit </a:t>
            </a: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Master title style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</p:spPr>
        <p:txBody>
          <a:bodyPr>
            <a:noAutofit/>
          </a:bodyPr>
          <a:p>
            <a:pPr marL="343080" indent="-34272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Click to edit Master text 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styles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4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143000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600200" indent="-22824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4" marL="2057400" indent="-22824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</p:spPr>
        <p:txBody>
          <a:bodyPr>
            <a:noAutofit/>
          </a:bodyPr>
          <a:p>
            <a:pPr marL="343080" indent="-34272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4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143000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600200" indent="-22824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4" marL="2057400" indent="-22824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p>
            <a:pPr>
              <a:lnSpc>
                <a:spcPct val="100000"/>
              </a:lnSpc>
            </a:pPr>
            <a:fld id="{3E1C3499-6CE4-49D4-83ED-DE708E78CA55}" type="datetime">
              <a:rPr b="0" lang="en-US" sz="1200" spc="-1" strike="noStrike">
                <a:solidFill>
                  <a:srgbClr val="8b8b8b"/>
                </a:solidFill>
                <a:latin typeface="Calibri"/>
              </a:rPr>
              <a:t>8/25/26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p>
            <a:endParaRPr b="0" lang="en-US" sz="2400" spc="-1" strike="noStrike">
              <a:latin typeface="Times New Roman"/>
            </a:endParaRPr>
          </a:p>
        </p:txBody>
      </p:sp>
      <p:sp>
        <p:nvSpPr>
          <p:cNvPr id="46" name="PlaceHolder 6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p>
            <a:pPr algn="r">
              <a:lnSpc>
                <a:spcPct val="100000"/>
              </a:lnSpc>
            </a:pPr>
            <a:fld id="{D0D56413-A3A0-492C-87B3-214D10DAB326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Click to edit </a:t>
            </a: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Master title style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p>
            <a:pPr>
              <a:lnSpc>
                <a:spcPct val="100000"/>
              </a:lnSpc>
            </a:pPr>
            <a:fld id="{AC5C4FDD-9D34-40A7-A500-58B30A812DE7}" type="datetime">
              <a:rPr b="0" lang="en-US" sz="1200" spc="-1" strike="noStrike">
                <a:solidFill>
                  <a:srgbClr val="8b8b8b"/>
                </a:solidFill>
                <a:latin typeface="Calibri"/>
              </a:rPr>
              <a:t>8/25/26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85" name="PlaceHolder 3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p>
            <a:endParaRPr b="0" lang="en-US" sz="2400" spc="-1" strike="noStrike">
              <a:latin typeface="Times New Roman"/>
            </a:endParaRPr>
          </a:p>
        </p:txBody>
      </p:sp>
      <p:sp>
        <p:nvSpPr>
          <p:cNvPr id="86" name="PlaceHolder 4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p>
            <a:pPr algn="r">
              <a:lnSpc>
                <a:spcPct val="100000"/>
              </a:lnSpc>
            </a:pPr>
            <a:fld id="{F6403B14-5AAB-4352-B3E0-2D755956F828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8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Click to edit </a:t>
            </a: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Master title style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>
            <a:noAutofit/>
          </a:bodyPr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lvl="2" marL="1143000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3" marL="1600200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4" marL="2057400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6" name="PlaceHolder 3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p>
            <a:pPr>
              <a:lnSpc>
                <a:spcPct val="100000"/>
              </a:lnSpc>
            </a:pPr>
            <a:fld id="{29350524-1F5E-4937-9D17-C42C9586A1E6}" type="datetime">
              <a:rPr b="0" lang="en-US" sz="1200" spc="-1" strike="noStrike">
                <a:solidFill>
                  <a:srgbClr val="8b8b8b"/>
                </a:solidFill>
                <a:latin typeface="Calibri"/>
              </a:rPr>
              <a:t>8/25/26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127" name="PlaceHolder 4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p>
            <a:endParaRPr b="0" lang="en-US" sz="2400" spc="-1" strike="noStrike">
              <a:latin typeface="Times New Roman"/>
            </a:endParaRPr>
          </a:p>
        </p:txBody>
      </p:sp>
      <p:sp>
        <p:nvSpPr>
          <p:cNvPr id="128" name="PlaceHolder 5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p>
            <a:pPr algn="r">
              <a:lnSpc>
                <a:spcPct val="100000"/>
              </a:lnSpc>
            </a:pPr>
            <a:fld id="{2D2C4A3D-BEE3-466A-A152-B701F018B956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PlaceHolder 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p>
            <a:pPr>
              <a:lnSpc>
                <a:spcPct val="100000"/>
              </a:lnSpc>
            </a:pPr>
            <a:fld id="{BFB59F1B-1CF7-47A6-8F75-C9C85B309A2F}" type="datetime">
              <a:rPr b="0" lang="en-US" sz="1200" spc="-1" strike="noStrike">
                <a:solidFill>
                  <a:srgbClr val="8b8b8b"/>
                </a:solidFill>
                <a:latin typeface="Calibri"/>
              </a:rPr>
              <a:t>8/25/26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166" name="PlaceHolder 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p>
            <a:endParaRPr b="0" lang="en-US" sz="2400" spc="-1" strike="noStrike">
              <a:latin typeface="Times New Roman"/>
            </a:endParaRPr>
          </a:p>
        </p:txBody>
      </p:sp>
      <p:sp>
        <p:nvSpPr>
          <p:cNvPr id="167" name="PlaceHolder 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p>
            <a:pPr algn="r">
              <a:lnSpc>
                <a:spcPct val="100000"/>
              </a:lnSpc>
            </a:pPr>
            <a:fld id="{EAFEA1A8-EBF0-4B5B-B43C-57446169A003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168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9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  <p:sldLayoutId id="2147483711" r:id="rId12"/>
    <p:sldLayoutId id="2147483712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16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2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4.gif"/><Relationship Id="rId2" Type="http://schemas.openxmlformats.org/officeDocument/2006/relationships/slideLayout" Target="../slideLayouts/slideLayout37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37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slideLayout" Target="../slideLayouts/slideLayout16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6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hyperlink" Target="https://mesonet.agron.iastate.edu/plotting/auto/?q=94" TargetMode="External"/><Relationship Id="rId3" Type="http://schemas.openxmlformats.org/officeDocument/2006/relationships/slideLayout" Target="../slideLayouts/slideLayout2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4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6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4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hyperlink" Target="https://mesonet.agron.iastate.edu/plotting/auto/?_wait=no&amp;q=9&amp;network=IACLIMATE&amp;station=IATAME&amp;year=2026&amp;base=50&amp;ceiling=86&amp;dpi=100&amp;_fmt=png" TargetMode="External"/><Relationship Id="rId3" Type="http://schemas.openxmlformats.org/officeDocument/2006/relationships/slideLayout" Target="../slideLayouts/slideLayout37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hyperlink" Target="https://mesonet.agron.iastate.edu/plotting/auto/?_wait=no&amp;q=108&amp;network=IACLIMATE&amp;station=IATAME&amp;sdate=2026%2F05%2F01&amp;edate=2026%2F08%2F28&amp;base=50&amp;ceil=86&amp;_opt_year2=on&amp;year2=2022&amp;_opt_year3=on&amp;year3=2012&amp;year4=1893&amp;which=gdd&amp;_r=43&amp;dpi=100&amp;_fmt=png" TargetMode="External"/><Relationship Id="rId3" Type="http://schemas.openxmlformats.org/officeDocument/2006/relationships/slideLayout" Target="../slideLayouts/slideLayout37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hyperlink" Target="https://mesonet.agron.iastate.edu/plotting/auto/?_wait=no&amp;q=179&amp;network=IACLIMATE&amp;station=IATAME&amp;gddbase=2300&amp;base=50&amp;ceil=86&amp;date=2026%2F08%2F23&amp;cmap=jet&amp;_r=43&amp;dpi=100&amp;_fmt=png" TargetMode="External"/><Relationship Id="rId3" Type="http://schemas.openxmlformats.org/officeDocument/2006/relationships/slideLayout" Target="../slideLayouts/slideLayout37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hyperlink" Target="https://mesonet.agron.iastate.edu/plotting/auto/?_wait=no&amp;q=7&amp;network=IACLIMATE&amp;station=IATAME&amp;year=2026&amp;gdd1=1135&amp;gdd2=1660&amp;dpi=100&amp;_fmt=png" TargetMode="External"/><Relationship Id="rId3" Type="http://schemas.openxmlformats.org/officeDocument/2006/relationships/slideLayout" Target="../slideLayouts/slideLayout37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hyperlink" Target="https://mesonet.agron.iastate.edu/plotting/auto/?_wait=no&amp;q=32&amp;network=IACLIMATE&amp;station=IATAME&amp;year=2026&amp;var=high&amp;gddbase=50&amp;gddceil=86&amp;how=diff&amp;cmap=jet&amp;_r=43&amp;dpi=100&amp;_fmt=png" TargetMode="External"/><Relationship Id="rId3" Type="http://schemas.openxmlformats.org/officeDocument/2006/relationships/slideLayout" Target="../slideLayouts/slideLayout16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hyperlink" Target="https://mesonet.agron.iastate.edu/plotting/auto/?_wait=no&amp;q=23&amp;network=IACLIMATE&amp;station=IATAME&amp;syear=2013&amp;years=13&amp;var=avg_temp&amp;dpi=100&amp;_fmt=png" TargetMode="External"/><Relationship Id="rId3" Type="http://schemas.openxmlformats.org/officeDocument/2006/relationships/slideLayout" Target="../slideLayouts/slideLayout37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hyperlink" Target="http://mesonet.agron.iastate.edu/plotting/auto/?_wait=no&amp;q=93&amp;network=IA_ASOS&amp;zstation=AMW&amp;year=2026&amp;var=heatindex&amp;ytd=no&amp;inc=no&amp;dpi=100&amp;_fmt=png" TargetMode="External"/><Relationship Id="rId3" Type="http://schemas.openxmlformats.org/officeDocument/2006/relationships/slideLayout" Target="../slideLayouts/slideLayout37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hyperlink" Target="https://mesonet.agron.iastate.edu/plotting/auto/?_wait=no&amp;q=177&amp;station=WMNI4&amp;opt=3&amp;sts=2026/04/01+1000&amp;ets=2026/06/01+1000&amp;dpi=100&amp;_fmt=png" TargetMode="External"/><Relationship Id="rId3" Type="http://schemas.openxmlformats.org/officeDocument/2006/relationships/slideLayout" Target="../slideLayouts/slideLayout37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hyperlink" Target="https://mesonet.agron.iastate.edu/agclimate/soilt.php" TargetMode="External"/><Relationship Id="rId3" Type="http://schemas.openxmlformats.org/officeDocument/2006/relationships/slideLayout" Target="../slideLayouts/slideLayout37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hyperlink" Target="http://mesonet.agron.iastate.edu/plotting/auto/?_wait=no&amp;q=177&amp;station=BOOI4&amp;opt=sm&amp;sts=2026%2F04%2F01+1000&amp;ets=2026%2F08%2F28+1200&amp;_r=t&amp;dpi=100&amp;_fmt=png" TargetMode="External"/><Relationship Id="rId3" Type="http://schemas.openxmlformats.org/officeDocument/2006/relationships/slideLayout" Target="../slideLayouts/slideLayout37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hyperlink" Target="https://mesonet.agron.iastate.edu/plotting/auto/?_wait=no&amp;q=84&amp;sector=IA&amp;_ugc_state=IA&amp;ugc=IAC153&amp;cwa=LIX&amp;src=mrms&amp;opt=dep&amp;usdm=yes&amp;ptype=g&amp;sdate=2026%2F07%2F01&amp;edate=2026%2F08%2F24&amp;cmap=BrBG&amp;_r=43&amp;dpi=100&amp;_fmt=png" TargetMode="External"/><Relationship Id="rId3" Type="http://schemas.openxmlformats.org/officeDocument/2006/relationships/slideLayout" Target="../slideLayouts/slideLayout37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hyperlink" Target="https://mesonet.agron.iastate.edu/plotting/auto/?_wait=no&amp;q=84&amp;sector=IA&amp;_ugc_state=IA&amp;ugc=IAC153&amp;cwa=LIX&amp;src=mrms&amp;opt=dep&amp;usdm=yes&amp;ptype=g&amp;sdate=2023%2F07%2F01&amp;edate=2023%2F08%2F28&amp;cmap=BrBG&amp;_r=43&amp;dpi=100&amp;_fmt=png" TargetMode="External"/><Relationship Id="rId3" Type="http://schemas.openxmlformats.org/officeDocument/2006/relationships/slideLayout" Target="../slideLayouts/slideLayout37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hyperlink" Target="http://mesonet.agron.iastate.edu/plotting/auto/?_wait=no&amp;q=173&amp;network=IA_ASOS&amp;zstation=AMW&amp;units=mph&amp;p1=0201-0228&amp;p2=0511-0520&amp;p3=0521-0530&amp;p4=0601-0610&amp;p5=0611-0620&amp;p6=0621-0630&amp;y1=1973&amp;y2=2018&amp;dpi=100&amp;_fmt=png" TargetMode="External"/><Relationship Id="rId3" Type="http://schemas.openxmlformats.org/officeDocument/2006/relationships/slideLayout" Target="../slideLayouts/slideLayout37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image" Target="../media/image26.png"/><Relationship Id="rId3" Type="http://schemas.openxmlformats.org/officeDocument/2006/relationships/hyperlink" Target="http://mesonet.agron.iastate.edu/sites/windrose.phtml?station=AMW&amp;network=IA_ASOS" TargetMode="External"/><Relationship Id="rId4" Type="http://schemas.openxmlformats.org/officeDocument/2006/relationships/slideLayout" Target="../slideLayouts/slideLayout16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image" Target="../media/image27.png"/><Relationship Id="rId2" Type="http://schemas.openxmlformats.org/officeDocument/2006/relationships/hyperlink" Target="https://mesonet.agron.iastate.edu/plotting/auto/?q=239" TargetMode="External"/><Relationship Id="rId3" Type="http://schemas.openxmlformats.org/officeDocument/2006/relationships/slideLayout" Target="../slideLayouts/slideLayout37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image" Target="../media/image28.png"/><Relationship Id="rId2" Type="http://schemas.openxmlformats.org/officeDocument/2006/relationships/slideLayout" Target="../slideLayouts/slideLayout16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
</Relationships>
</file>

<file path=ppt/slides/_rels/slide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
</Relationships>
</file>

<file path=ppt/slides/_rels/slide47.xml.rels><?xml version="1.0" encoding="UTF-8"?>
<Relationships xmlns="http://schemas.openxmlformats.org/package/2006/relationships"><Relationship Id="rId1" Type="http://schemas.openxmlformats.org/officeDocument/2006/relationships/hyperlink" Target="https://mesonet.agron.iastate.edu/" TargetMode="External"/><Relationship Id="rId2" Type="http://schemas.openxmlformats.org/officeDocument/2006/relationships/image" Target="../media/image29.gif"/><Relationship Id="rId3" Type="http://schemas.openxmlformats.org/officeDocument/2006/relationships/slideLayout" Target="../slideLayouts/slideLayout16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Title 1"/>
          <p:cNvSpPr txBox="1"/>
          <p:nvPr/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Using the Mesonet Website</a:t>
            </a:r>
            <a:br/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For Fun and/or Profit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7" name="Subtitle 2"/>
          <p:cNvSpPr txBox="1"/>
          <p:nvPr/>
        </p:nvSpPr>
        <p:spPr>
          <a:xfrm>
            <a:off x="1371600" y="3886200"/>
            <a:ext cx="6400440" cy="175212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2000"/>
          </a:bodyPr>
          <a:p>
            <a:pPr algn="ctr">
              <a:lnSpc>
                <a:spcPct val="100000"/>
              </a:lnSpc>
              <a:spcBef>
                <a:spcPts val="641"/>
              </a:spcBef>
              <a:tabLst>
                <a:tab algn="l" pos="0"/>
              </a:tabLst>
            </a:pPr>
            <a:r>
              <a:rPr b="0" lang="en-US" sz="3200" spc="-1" strike="noStrike">
                <a:solidFill>
                  <a:srgbClr val="8b8b8b"/>
                </a:solidFill>
                <a:latin typeface="Calibri"/>
              </a:rPr>
              <a:t>Daryl Herzmann</a:t>
            </a:r>
            <a:endParaRPr b="0" lang="en-US" sz="3200" spc="-1" strike="noStrike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641"/>
              </a:spcBef>
              <a:tabLst>
                <a:tab algn="l" pos="0"/>
              </a:tabLst>
            </a:pPr>
            <a:r>
              <a:rPr b="0" lang="en-US" sz="3200" spc="-1" strike="noStrike">
                <a:solidFill>
                  <a:srgbClr val="8b8b8b"/>
                </a:solidFill>
                <a:latin typeface="Calibri"/>
              </a:rPr>
              <a:t>@akrherz</a:t>
            </a:r>
            <a:endParaRPr b="0" lang="en-US" sz="3200" spc="-1" strike="noStrike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641"/>
              </a:spcBef>
              <a:tabLst>
                <a:tab algn="l" pos="0"/>
              </a:tabLst>
            </a:pPr>
            <a:r>
              <a:rPr b="0" lang="en-US" sz="3200" spc="-1" strike="noStrike">
                <a:solidFill>
                  <a:srgbClr val="8b8b8b"/>
                </a:solidFill>
                <a:latin typeface="Calibri"/>
              </a:rPr>
              <a:t>25 August 2026</a:t>
            </a:r>
            <a:endParaRPr b="0" lang="en-US" sz="3200" spc="-1" strike="noStrike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641"/>
              </a:spcBef>
              <a:tabLst>
                <a:tab algn="l" pos="0"/>
              </a:tabLst>
            </a:pPr>
            <a:r>
              <a:rPr b="0" lang="en-US" sz="3200" spc="-1" strike="noStrike">
                <a:solidFill>
                  <a:srgbClr val="8b8b8b"/>
                </a:solidFill>
                <a:latin typeface="Calibri"/>
              </a:rPr>
              <a:t>Website -&gt; Info Tab -&gt; Presentations</a:t>
            </a:r>
            <a:endParaRPr b="0" lang="en-US" sz="3200" spc="-1" strike="noStrike">
              <a:latin typeface="Arial"/>
            </a:endParaRPr>
          </a:p>
        </p:txBody>
      </p:sp>
      <p:pic>
        <p:nvPicPr>
          <p:cNvPr id="208" name="Picture 3" descr=""/>
          <p:cNvPicPr/>
          <p:nvPr/>
        </p:nvPicPr>
        <p:blipFill>
          <a:blip r:embed="rId1"/>
          <a:stretch/>
        </p:blipFill>
        <p:spPr>
          <a:xfrm>
            <a:off x="3200400" y="386640"/>
            <a:ext cx="2682720" cy="2051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Title 3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Who am I and Why am I here?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0" name="Content Placeholder 4"/>
          <p:cNvSpPr txBox="1"/>
          <p:nvPr/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p>
            <a:pPr marL="343080" indent="-34272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Hi, I’m daryl! I’m staff in Agronomy with a BS in Meteorology (ISU, 2001).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272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I’m the proprietor of the IEM website.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272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All ya’ll are supposed to be directly in my wheelhouse for website users to support!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211" name="Content Placeholder 7" descr=""/>
          <p:cNvPicPr/>
          <p:nvPr/>
        </p:nvPicPr>
        <p:blipFill>
          <a:blip r:embed="rId1"/>
          <a:stretch/>
        </p:blipFill>
        <p:spPr>
          <a:xfrm>
            <a:off x="4648320" y="2108520"/>
            <a:ext cx="4495320" cy="3185280"/>
          </a:xfrm>
          <a:prstGeom prst="rect">
            <a:avLst/>
          </a:prstGeom>
          <a:ln w="0">
            <a:noFill/>
          </a:ln>
        </p:spPr>
      </p:pic>
      <p:sp>
        <p:nvSpPr>
          <p:cNvPr id="212" name="TextBox 8"/>
          <p:cNvSpPr/>
          <p:nvPr/>
        </p:nvSpPr>
        <p:spPr>
          <a:xfrm>
            <a:off x="7848720" y="5294160"/>
            <a:ext cx="12949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AP Photo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Title 3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0000"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What is going on here?</a:t>
            </a:r>
            <a:br/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https://mesonet.agron.iastate.edu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214" name="Picture 2" descr=""/>
          <p:cNvPicPr/>
          <p:nvPr/>
        </p:nvPicPr>
        <p:blipFill>
          <a:blip r:embed="rId1"/>
          <a:stretch/>
        </p:blipFill>
        <p:spPr>
          <a:xfrm>
            <a:off x="4622400" y="2362320"/>
            <a:ext cx="4064040" cy="2971440"/>
          </a:xfrm>
          <a:prstGeom prst="rect">
            <a:avLst/>
          </a:prstGeom>
          <a:ln w="0">
            <a:noFill/>
          </a:ln>
        </p:spPr>
      </p:pic>
      <p:sp>
        <p:nvSpPr>
          <p:cNvPr id="215" name="TextBox 4"/>
          <p:cNvSpPr/>
          <p:nvPr/>
        </p:nvSpPr>
        <p:spPr>
          <a:xfrm>
            <a:off x="457200" y="1752480"/>
            <a:ext cx="4114440" cy="511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marL="457200" indent="-456840">
              <a:lnSpc>
                <a:spcPct val="100000"/>
              </a:lnSpc>
              <a:buClr>
                <a:srgbClr val="000000"/>
              </a:buClr>
              <a:buFont typeface="Calibri"/>
              <a:buAutoNum type="arabicPeriod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For past 25 years, I’ve implemented about 95% of the requests made of me for weather / climate products + data.</a:t>
            </a:r>
            <a:endParaRPr b="0" lang="en-US" sz="2400" spc="-1" strike="noStrike">
              <a:latin typeface="Arial"/>
            </a:endParaRPr>
          </a:p>
          <a:p>
            <a:pPr marL="457200" indent="-456840">
              <a:lnSpc>
                <a:spcPct val="100000"/>
              </a:lnSpc>
              <a:buClr>
                <a:srgbClr val="000000"/>
              </a:buClr>
              <a:buFont typeface="Calibri"/>
              <a:buAutoNum type="arabicPeriod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Unmitigated website feature sprawl with ~150 apps, ~40 download portals, and ~260 automated plotting apps.</a:t>
            </a:r>
            <a:endParaRPr b="0" lang="en-US" sz="2400" spc="-1" strike="noStrike">
              <a:latin typeface="Arial"/>
            </a:endParaRPr>
          </a:p>
          <a:p>
            <a:pPr marL="457200" indent="-456840">
              <a:lnSpc>
                <a:spcPct val="100000"/>
              </a:lnSpc>
              <a:buClr>
                <a:srgbClr val="000000"/>
              </a:buClr>
              <a:buFont typeface="Calibri"/>
              <a:buAutoNum type="arabicPeriod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To atone for these sins, I promptly answer all the emails I get. (GOTO step 1)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Title 3"/>
          <p:cNvSpPr txBox="1"/>
          <p:nvPr/>
        </p:nvSpPr>
        <p:spPr>
          <a:xfrm>
            <a:off x="457200" y="53352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30,000 foot view of IEM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7" name="Content Placeholder 4"/>
          <p:cNvSpPr txBox="1"/>
          <p:nvPr/>
        </p:nvSpPr>
        <p:spPr>
          <a:xfrm>
            <a:off x="457200" y="2057400"/>
            <a:ext cx="8229240" cy="406836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0000"/>
          </a:bodyPr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Other states have a University/State “Mesonet” with staff (gasp), deployed equipment, and research programs. 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ISU has a “Soil Moisture Network”, which is a quasi mesonet, some call it the mesonet, but it is not what the IEM is!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Data from the Soil Moisture Network is found on the IEM website, along with everything else under the sun! To make things fun and confusing.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Title 3"/>
          <p:cNvSpPr txBox="1"/>
          <p:nvPr/>
        </p:nvSpPr>
        <p:spPr>
          <a:xfrm>
            <a:off x="457200" y="53352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So what exactly is the IEM?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9" name="Content Placeholder 4"/>
          <p:cNvSpPr txBox="1"/>
          <p:nvPr/>
        </p:nvSpPr>
        <p:spPr>
          <a:xfrm>
            <a:off x="457200" y="2057400"/>
            <a:ext cx="8229240" cy="406836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It me.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A website with portals offering easy download of many environmental datasets.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Generally not limited to Iowa, some global.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Many fully customizable data visualizations while not hiding the raw data behind the visualizations.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All sorts of dry wit.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Title 1"/>
          <p:cNvSpPr txBox="1"/>
          <p:nvPr/>
        </p:nvSpPr>
        <p:spPr>
          <a:xfrm>
            <a:off x="565200" y="114300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31000"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Augh daryl!</a:t>
            </a:r>
            <a:br/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I just want to know how much it</a:t>
            </a:r>
            <a:br/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rained and if we are above or</a:t>
            </a:r>
            <a:br/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below average for GDDs.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221" name="Content Placeholder 4" descr=""/>
          <p:cNvPicPr/>
          <p:nvPr/>
        </p:nvPicPr>
        <p:blipFill>
          <a:blip r:embed="rId1"/>
          <a:stretch/>
        </p:blipFill>
        <p:spPr>
          <a:xfrm>
            <a:off x="1981080" y="3809880"/>
            <a:ext cx="5397120" cy="2590560"/>
          </a:xfrm>
          <a:prstGeom prst="rect">
            <a:avLst/>
          </a:prstGeom>
          <a:ln w="0">
            <a:noFill/>
          </a:ln>
        </p:spPr>
      </p:pic>
      <p:sp>
        <p:nvSpPr>
          <p:cNvPr id="222" name="TextBox 5"/>
          <p:cNvSpPr/>
          <p:nvPr/>
        </p:nvSpPr>
        <p:spPr>
          <a:xfrm>
            <a:off x="6406560" y="6408720"/>
            <a:ext cx="113976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Tenor.com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Title 3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TELL ME RAINFALL AND GDDs!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4" name="Content Placeholder 4"/>
          <p:cNvSpPr txBox="1"/>
          <p:nvPr/>
        </p:nvSpPr>
        <p:spPr>
          <a:xfrm>
            <a:off x="457200" y="1600200"/>
            <a:ext cx="7924320" cy="452556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p>
            <a:pPr marL="343080" indent="-34272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Do you know what you are asking for?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272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What is average/normal, are they even the same?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272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What are your accuracy requirements?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272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What variability are you attempting to explain?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5" name="TextBox 9"/>
          <p:cNvSpPr/>
          <p:nvPr/>
        </p:nvSpPr>
        <p:spPr>
          <a:xfrm>
            <a:off x="3355200" y="5824080"/>
            <a:ext cx="3700080" cy="51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Speaking of Variability….</a:t>
            </a:r>
            <a:endParaRPr b="0" lang="en-US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Content Placeholder 3" descr=""/>
          <p:cNvPicPr/>
          <p:nvPr/>
        </p:nvPicPr>
        <p:blipFill>
          <a:blip r:embed="rId1"/>
          <a:stretch/>
        </p:blipFill>
        <p:spPr>
          <a:xfrm>
            <a:off x="28800" y="407880"/>
            <a:ext cx="8731800" cy="5820840"/>
          </a:xfrm>
          <a:prstGeom prst="rect">
            <a:avLst/>
          </a:prstGeom>
          <a:ln w="0">
            <a:noFill/>
          </a:ln>
        </p:spPr>
      </p:pic>
      <p:sp>
        <p:nvSpPr>
          <p:cNvPr id="227" name="TextBox 4"/>
          <p:cNvSpPr/>
          <p:nvPr/>
        </p:nvSpPr>
        <p:spPr>
          <a:xfrm>
            <a:off x="533520" y="380880"/>
            <a:ext cx="8000640" cy="516960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ISU “Tall Towers” </a:t>
            </a:r>
            <a:r>
              <a:rPr b="1" lang="en-US" sz="2800" spc="-1" strike="noStrike">
                <a:solidFill>
                  <a:srgbClr val="c0504d"/>
                </a:solidFill>
                <a:latin typeface="Calibri"/>
              </a:rPr>
              <a:t>1 second interval 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Wind Speed [mps]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228" name="TextBox 5"/>
          <p:cNvSpPr/>
          <p:nvPr/>
        </p:nvSpPr>
        <p:spPr>
          <a:xfrm>
            <a:off x="3276720" y="5105520"/>
            <a:ext cx="5455080" cy="761760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29" name="TextBox 7"/>
          <p:cNvSpPr/>
          <p:nvPr/>
        </p:nvSpPr>
        <p:spPr>
          <a:xfrm>
            <a:off x="304920" y="5486400"/>
            <a:ext cx="7924320" cy="821880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Two sensors at same height, mounted at different directions on the tower. We also have 20 Hz data </a:t>
            </a:r>
            <a:r>
              <a:rPr b="0" lang="en-US" sz="2400" spc="-1" strike="noStrike">
                <a:solidFill>
                  <a:srgbClr val="000000"/>
                </a:solidFill>
                <a:latin typeface="Wingdings"/>
              </a:rPr>
              <a:t>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230" name="TextBox 8"/>
          <p:cNvSpPr/>
          <p:nvPr/>
        </p:nvSpPr>
        <p:spPr>
          <a:xfrm>
            <a:off x="1930680" y="4191120"/>
            <a:ext cx="503208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This entire plot is just 1 minute of data!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231" name="Left Arrow 9"/>
          <p:cNvSpPr/>
          <p:nvPr/>
        </p:nvSpPr>
        <p:spPr>
          <a:xfrm>
            <a:off x="762120" y="4341240"/>
            <a:ext cx="914040" cy="230400"/>
          </a:xfrm>
          <a:prstGeom prst="leftArrow">
            <a:avLst>
              <a:gd name="adj1" fmla="val 50000"/>
              <a:gd name="adj2" fmla="val 50000"/>
            </a:avLst>
          </a:prstGeom>
          <a:solidFill>
            <a:srgbClr val="4f81bd"/>
          </a:solidFill>
          <a:ln>
            <a:solidFill>
              <a:srgbClr val="3a5f8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32" name="Left Arrow 10"/>
          <p:cNvSpPr/>
          <p:nvPr/>
        </p:nvSpPr>
        <p:spPr>
          <a:xfrm rot="10800000">
            <a:off x="7086960" y="4341600"/>
            <a:ext cx="914040" cy="230400"/>
          </a:xfrm>
          <a:prstGeom prst="leftArrow">
            <a:avLst>
              <a:gd name="adj1" fmla="val 50000"/>
              <a:gd name="adj2" fmla="val 50000"/>
            </a:avLst>
          </a:prstGeom>
          <a:solidFill>
            <a:srgbClr val="4f81bd"/>
          </a:solidFill>
          <a:ln>
            <a:solidFill>
              <a:srgbClr val="3a5f8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Title 8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Precipitation Variability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4" name="Content Placeholder 9"/>
          <p:cNvSpPr txBox="1"/>
          <p:nvPr/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p>
            <a:pPr marL="343080" indent="-34272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Iowa Flood Center experiment with tipping buckets 3 feet apart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272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Found some cases of noticeable differences between these two gauges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272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In general case, which gauge is right? </a:t>
            </a:r>
            <a:r>
              <a:rPr b="0" lang="en-US" sz="2800" spc="-1" strike="noStrike">
                <a:solidFill>
                  <a:srgbClr val="000000"/>
                </a:solidFill>
                <a:latin typeface="Wingdings"/>
              </a:rPr>
              <a:t>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235" name="Content Placeholder 11" descr=""/>
          <p:cNvPicPr/>
          <p:nvPr/>
        </p:nvPicPr>
        <p:blipFill>
          <a:blip r:embed="rId1"/>
          <a:stretch/>
        </p:blipFill>
        <p:spPr>
          <a:xfrm>
            <a:off x="4648320" y="2348640"/>
            <a:ext cx="4038120" cy="3028680"/>
          </a:xfrm>
          <a:prstGeom prst="rect">
            <a:avLst/>
          </a:prstGeom>
          <a:ln w="0">
            <a:noFill/>
          </a:ln>
        </p:spPr>
      </p:pic>
      <p:sp>
        <p:nvSpPr>
          <p:cNvPr id="236" name="TextBox 12"/>
          <p:cNvSpPr/>
          <p:nvPr/>
        </p:nvSpPr>
        <p:spPr>
          <a:xfrm>
            <a:off x="3008520" y="5790960"/>
            <a:ext cx="587916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http://iowafloodcenter.org/notes-from-the-field-rain-gauges/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Title 1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Temperature Variability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8" name="Content Placeholder 2"/>
          <p:cNvSpPr txBox="1"/>
          <p:nvPr/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p>
            <a:pPr marL="343080" indent="-34272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Subtle topography / elevation changes make a difference!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272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Similar to wind, one second plots sometimes show rapid temperature fluctuations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272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Urban Heat Islands impact temperature representativity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239" name="Content Placeholder 4" descr=""/>
          <p:cNvPicPr/>
          <p:nvPr/>
        </p:nvPicPr>
        <p:blipFill>
          <a:blip r:embed="rId1"/>
          <a:stretch/>
        </p:blipFill>
        <p:spPr>
          <a:xfrm>
            <a:off x="4648320" y="1918440"/>
            <a:ext cx="4038120" cy="3889080"/>
          </a:xfrm>
          <a:prstGeom prst="rect">
            <a:avLst/>
          </a:prstGeom>
          <a:ln w="0">
            <a:noFill/>
          </a:ln>
        </p:spPr>
      </p:pic>
      <p:sp>
        <p:nvSpPr>
          <p:cNvPr id="240" name="TextBox 5"/>
          <p:cNvSpPr/>
          <p:nvPr/>
        </p:nvSpPr>
        <p:spPr>
          <a:xfrm>
            <a:off x="5197320" y="6126120"/>
            <a:ext cx="239400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Photo: Dr Elywnn Taylor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" name="Picture 7" descr="Chart, line chart&#10;&#10;Description automatically generated"/>
          <p:cNvPicPr/>
          <p:nvPr/>
        </p:nvPicPr>
        <p:blipFill>
          <a:blip r:embed="rId1"/>
          <a:stretch/>
        </p:blipFill>
        <p:spPr>
          <a:xfrm>
            <a:off x="0" y="0"/>
            <a:ext cx="9143640" cy="6857640"/>
          </a:xfrm>
          <a:prstGeom prst="rect">
            <a:avLst/>
          </a:prstGeom>
          <a:ln w="0">
            <a:noFill/>
          </a:ln>
        </p:spPr>
      </p:pic>
      <p:sp>
        <p:nvSpPr>
          <p:cNvPr id="242" name="TextBox 5"/>
          <p:cNvSpPr/>
          <p:nvPr/>
        </p:nvSpPr>
        <p:spPr>
          <a:xfrm>
            <a:off x="5799960" y="6417720"/>
            <a:ext cx="143244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 u="sng">
                <a:solidFill>
                  <a:srgbClr val="0000ff"/>
                </a:solidFill>
                <a:uFillTx/>
                <a:latin typeface="Calibri"/>
                <a:hlinkClick r:id="rId2"/>
              </a:rPr>
              <a:t>Web Link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#94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3" name="Picture 5" descr=""/>
          <p:cNvPicPr/>
          <p:nvPr/>
        </p:nvPicPr>
        <p:blipFill>
          <a:blip r:embed="rId1"/>
          <a:stretch/>
        </p:blipFill>
        <p:spPr>
          <a:xfrm>
            <a:off x="76320" y="438480"/>
            <a:ext cx="9191880" cy="6114600"/>
          </a:xfrm>
          <a:prstGeom prst="rect">
            <a:avLst/>
          </a:prstGeom>
          <a:ln w="0">
            <a:noFill/>
          </a:ln>
        </p:spPr>
      </p:pic>
      <p:sp>
        <p:nvSpPr>
          <p:cNvPr id="244" name="Rectangle 6"/>
          <p:cNvSpPr/>
          <p:nvPr/>
        </p:nvSpPr>
        <p:spPr>
          <a:xfrm>
            <a:off x="76320" y="1905120"/>
            <a:ext cx="2285640" cy="380520"/>
          </a:xfrm>
          <a:prstGeom prst="rect">
            <a:avLst/>
          </a:prstGeom>
          <a:noFill/>
          <a:ln w="57150">
            <a:solidFill>
              <a:srgbClr val="ff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45" name="Rectangle 7"/>
          <p:cNvSpPr/>
          <p:nvPr/>
        </p:nvSpPr>
        <p:spPr>
          <a:xfrm>
            <a:off x="3200400" y="990720"/>
            <a:ext cx="685440" cy="380520"/>
          </a:xfrm>
          <a:prstGeom prst="rect">
            <a:avLst/>
          </a:prstGeom>
          <a:noFill/>
          <a:ln w="57150">
            <a:solidFill>
              <a:srgbClr val="ff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46" name="Rectangle 1"/>
          <p:cNvSpPr/>
          <p:nvPr/>
        </p:nvSpPr>
        <p:spPr>
          <a:xfrm>
            <a:off x="7010280" y="417600"/>
            <a:ext cx="1828440" cy="380520"/>
          </a:xfrm>
          <a:prstGeom prst="rect">
            <a:avLst/>
          </a:prstGeom>
          <a:noFill/>
          <a:ln w="57150">
            <a:solidFill>
              <a:srgbClr val="ffff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47" name="Rectangle 4"/>
          <p:cNvSpPr/>
          <p:nvPr/>
        </p:nvSpPr>
        <p:spPr>
          <a:xfrm>
            <a:off x="7010280" y="3733920"/>
            <a:ext cx="2285640" cy="380520"/>
          </a:xfrm>
          <a:prstGeom prst="rect">
            <a:avLst/>
          </a:prstGeom>
          <a:noFill/>
          <a:ln w="57150">
            <a:solidFill>
              <a:srgbClr val="ff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Title 3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Plugging my IEM Daily Feature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249" name="Content Placeholder 6" descr=""/>
          <p:cNvPicPr/>
          <p:nvPr/>
        </p:nvPicPr>
        <p:blipFill>
          <a:blip r:embed="rId1"/>
          <a:stretch/>
        </p:blipFill>
        <p:spPr>
          <a:xfrm>
            <a:off x="457200" y="2291400"/>
            <a:ext cx="4078080" cy="2644920"/>
          </a:xfrm>
          <a:prstGeom prst="rect">
            <a:avLst/>
          </a:prstGeom>
          <a:ln w="0">
            <a:noFill/>
          </a:ln>
        </p:spPr>
      </p:pic>
      <p:sp>
        <p:nvSpPr>
          <p:cNvPr id="250" name="Content Placeholder 5"/>
          <p:cNvSpPr txBox="1"/>
          <p:nvPr/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p>
            <a:pPr marL="343080" indent="-34272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Highlights something hopefully relevant each day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272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RSS Feed if you don’t want to check website daily, also view past features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272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Often links to IEM app that generated the plot, so you can tweak, download raw data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1" name="Picture 4" descr=""/>
          <p:cNvPicPr/>
          <p:nvPr/>
        </p:nvPicPr>
        <p:blipFill>
          <a:blip r:embed="rId1"/>
          <a:stretch/>
        </p:blipFill>
        <p:spPr>
          <a:xfrm>
            <a:off x="152280" y="0"/>
            <a:ext cx="5116680" cy="6857640"/>
          </a:xfrm>
          <a:prstGeom prst="rect">
            <a:avLst/>
          </a:prstGeom>
          <a:ln w="0">
            <a:noFill/>
          </a:ln>
        </p:spPr>
      </p:pic>
      <p:sp>
        <p:nvSpPr>
          <p:cNvPr id="252" name="TextBox 5"/>
          <p:cNvSpPr/>
          <p:nvPr/>
        </p:nvSpPr>
        <p:spPr>
          <a:xfrm>
            <a:off x="5954040" y="920880"/>
            <a:ext cx="164700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Select Plot Type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53" name="TextBox 6"/>
          <p:cNvSpPr/>
          <p:nvPr/>
        </p:nvSpPr>
        <p:spPr>
          <a:xfrm>
            <a:off x="5955480" y="2031480"/>
            <a:ext cx="193680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Select Plot Options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54" name="TextBox 7"/>
          <p:cNvSpPr/>
          <p:nvPr/>
        </p:nvSpPr>
        <p:spPr>
          <a:xfrm>
            <a:off x="5951880" y="3069000"/>
            <a:ext cx="124020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Description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55" name="TextBox 8"/>
          <p:cNvSpPr/>
          <p:nvPr/>
        </p:nvSpPr>
        <p:spPr>
          <a:xfrm>
            <a:off x="5956200" y="4572000"/>
            <a:ext cx="234216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Custom Generated Plot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56" name="TextBox 9"/>
          <p:cNvSpPr/>
          <p:nvPr/>
        </p:nvSpPr>
        <p:spPr>
          <a:xfrm>
            <a:off x="5961960" y="5867280"/>
            <a:ext cx="271260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Download Raw Data (Excel)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57" name="Straight Arrow Connector 12"/>
          <p:cNvSpPr/>
          <p:nvPr/>
        </p:nvSpPr>
        <p:spPr>
          <a:xfrm flipH="1" flipV="1">
            <a:off x="5269320" y="533520"/>
            <a:ext cx="673920" cy="5716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76200">
            <a:solidFill>
              <a:srgbClr val="4a7ebb"/>
            </a:solidFill>
            <a:round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58" name="Straight Arrow Connector 13"/>
          <p:cNvSpPr/>
          <p:nvPr/>
        </p:nvSpPr>
        <p:spPr>
          <a:xfrm flipH="1" flipV="1">
            <a:off x="5269320" y="1957320"/>
            <a:ext cx="673920" cy="243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76200">
            <a:solidFill>
              <a:srgbClr val="4a7ebb"/>
            </a:solidFill>
            <a:round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59" name="Straight Arrow Connector 15"/>
          <p:cNvSpPr/>
          <p:nvPr/>
        </p:nvSpPr>
        <p:spPr>
          <a:xfrm flipH="1">
            <a:off x="5269320" y="3254760"/>
            <a:ext cx="673920" cy="1738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76200">
            <a:solidFill>
              <a:srgbClr val="4a7ebb"/>
            </a:solidFill>
            <a:round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60" name="Straight Arrow Connector 17"/>
          <p:cNvSpPr/>
          <p:nvPr/>
        </p:nvSpPr>
        <p:spPr>
          <a:xfrm flipH="1">
            <a:off x="2285280" y="6132600"/>
            <a:ext cx="3657240" cy="5508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76200">
            <a:solidFill>
              <a:srgbClr val="4a7ebb"/>
            </a:solidFill>
            <a:round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61" name="Straight Arrow Connector 18"/>
          <p:cNvSpPr/>
          <p:nvPr/>
        </p:nvSpPr>
        <p:spPr>
          <a:xfrm flipH="1">
            <a:off x="3809880" y="4720680"/>
            <a:ext cx="2130480" cy="5612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76200">
            <a:solidFill>
              <a:srgbClr val="4a7ebb"/>
            </a:solidFill>
            <a:round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62" name="TextBox 22"/>
          <p:cNvSpPr/>
          <p:nvPr/>
        </p:nvSpPr>
        <p:spPr>
          <a:xfrm>
            <a:off x="5882400" y="134280"/>
            <a:ext cx="3159000" cy="57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3200" spc="-1" strike="noStrike">
                <a:solidFill>
                  <a:srgbClr val="000000"/>
                </a:solidFill>
                <a:latin typeface="Calibri"/>
              </a:rPr>
              <a:t>IEM Auto Plotting</a:t>
            </a:r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Title 4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Which network should I use?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graphicFrame>
        <p:nvGraphicFramePr>
          <p:cNvPr id="264" name="Content Placeholder 6"/>
          <p:cNvGraphicFramePr/>
          <p:nvPr/>
        </p:nvGraphicFramePr>
        <p:xfrm>
          <a:off x="457200" y="1600200"/>
          <a:ext cx="8229240" cy="33372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370800"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Data Need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Recommendation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4f81bd"/>
                    </a:solidFill>
                  </a:tcPr>
                </a:tc>
              </a:tr>
              <a:tr h="551880"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“</a:t>
                      </a: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Daily” High/Low Temps + Precipitation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NWS COOP</a:t>
                      </a:r>
                      <a:br/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IEM “Long Term Climate” / “Climodat”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</a:tr>
              <a:tr h="551880"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Wind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ISU Soil Moisture</a:t>
                      </a:r>
                      <a:br/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ASOS / AWOS (Airport weather stations)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</a:tr>
              <a:tr h="370800"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Solar Radiation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ISU Soil Moisture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</a:tr>
              <a:tr h="370800"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Hourly Rainfall, not snow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ISU Soil Moisture / ASOS / AWOS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</a:tr>
              <a:tr h="370800"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River Stage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DCP (USGS gauges)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</a:tr>
              <a:tr h="370800"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Soil Temperature/Moisture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ISU Soil Moisture / SCAN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</a:tr>
              <a:tr h="370800"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Humidity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ISU Soil Moisture / ASOS / AWOS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</a:tr>
              <a:tr h="370800"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Pavement Temperatures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RWIS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Title 3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0000"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Some Weather Variables to Monitor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6" name="TextBox 4"/>
          <p:cNvSpPr/>
          <p:nvPr/>
        </p:nvSpPr>
        <p:spPr>
          <a:xfrm>
            <a:off x="1698120" y="2133720"/>
            <a:ext cx="5189040" cy="283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3600" spc="-1" strike="noStrike">
                <a:solidFill>
                  <a:srgbClr val="000000"/>
                </a:solidFill>
                <a:latin typeface="Calibri"/>
              </a:rPr>
              <a:t>Growing Degree Days</a:t>
            </a:r>
            <a:endParaRPr b="0" lang="en-US" sz="3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3600" spc="-1" strike="noStrike">
                <a:solidFill>
                  <a:srgbClr val="c4bd97"/>
                </a:solidFill>
                <a:latin typeface="Calibri"/>
              </a:rPr>
              <a:t>Temperatures</a:t>
            </a:r>
            <a:endParaRPr b="0" lang="en-US" sz="3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3600" spc="-1" strike="noStrike">
                <a:solidFill>
                  <a:srgbClr val="c4bd97"/>
                </a:solidFill>
                <a:latin typeface="Calibri"/>
              </a:rPr>
              <a:t>Soil Moisture/Temperature</a:t>
            </a:r>
            <a:endParaRPr b="0" lang="en-US" sz="3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3600" spc="-1" strike="noStrike">
                <a:solidFill>
                  <a:srgbClr val="c4bd97"/>
                </a:solidFill>
                <a:latin typeface="Calibri"/>
              </a:rPr>
              <a:t>Precipitation</a:t>
            </a:r>
            <a:endParaRPr b="0" lang="en-US" sz="3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3600" spc="-1" strike="noStrike">
                <a:solidFill>
                  <a:srgbClr val="c4bd97"/>
                </a:solidFill>
                <a:latin typeface="Calibri"/>
              </a:rPr>
              <a:t>Wind</a:t>
            </a:r>
            <a:endParaRPr b="0" lang="en-US" sz="3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Title 1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p>
            <a:pPr algn="ctr">
              <a:lnSpc>
                <a:spcPct val="100000"/>
              </a:lnSpc>
            </a:pPr>
            <a:r>
              <a:rPr b="0" lang="en-US" sz="3600" spc="-1" strike="noStrike">
                <a:solidFill>
                  <a:srgbClr val="000000"/>
                </a:solidFill>
                <a:latin typeface="Calibri"/>
              </a:rPr>
              <a:t>What are Growing Degree Days (GDD)?</a:t>
            </a:r>
            <a:endParaRPr b="0" lang="en-US" sz="36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8" name="Content Placeholder 2"/>
          <p:cNvSpPr txBox="1"/>
          <p:nvPr/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p>
            <a:pPr marL="343080" indent="-34272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Classic Equation for Corn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561"/>
              </a:spcBef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45720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45720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Where: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marL="45720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Daily hi/low is capped at 86F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marL="45720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Daily hi/low is floored at 50F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marL="45720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Base is 50F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9" name="Content Placeholder 3"/>
          <p:cNvSpPr txBox="1"/>
          <p:nvPr/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p>
            <a:pPr marL="343080" indent="-34272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Example 1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High 90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Low 48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GDD: (</a:t>
            </a:r>
            <a:r>
              <a:rPr b="0" lang="en-US" sz="2000" spc="-1" strike="sngStrike">
                <a:solidFill>
                  <a:srgbClr val="000000"/>
                </a:solidFill>
                <a:latin typeface="Calibri"/>
              </a:rPr>
              <a:t>90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 86 + </a:t>
            </a:r>
            <a:r>
              <a:rPr b="0" lang="en-US" sz="2000" spc="-1" strike="sngStrike">
                <a:solidFill>
                  <a:srgbClr val="000000"/>
                </a:solidFill>
                <a:latin typeface="Calibri"/>
              </a:rPr>
              <a:t>48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 50)/2 – 50 = 18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272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Example 2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High 40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Low 32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GDD: (</a:t>
            </a:r>
            <a:r>
              <a:rPr b="0" lang="en-US" sz="2000" spc="-1" strike="sngStrike">
                <a:solidFill>
                  <a:srgbClr val="000000"/>
                </a:solidFill>
                <a:latin typeface="Calibri"/>
              </a:rPr>
              <a:t>40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 50 + </a:t>
            </a:r>
            <a:r>
              <a:rPr b="0" lang="en-US" sz="2000" spc="-1" strike="sngStrike">
                <a:solidFill>
                  <a:srgbClr val="000000"/>
                </a:solidFill>
                <a:latin typeface="Calibri"/>
              </a:rPr>
              <a:t>32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 50)/2 – 50 = 0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0" name="Content Placeholder 6" descr=""/>
          <p:cNvPicPr/>
          <p:nvPr/>
        </p:nvPicPr>
        <p:blipFill>
          <a:blip r:embed="rId1"/>
          <a:stretch/>
        </p:blipFill>
        <p:spPr>
          <a:xfrm>
            <a:off x="125280" y="-8280"/>
            <a:ext cx="9006120" cy="6754320"/>
          </a:xfrm>
          <a:prstGeom prst="rect">
            <a:avLst/>
          </a:prstGeom>
          <a:ln w="0">
            <a:noFill/>
          </a:ln>
        </p:spPr>
      </p:pic>
      <p:sp>
        <p:nvSpPr>
          <p:cNvPr id="271" name="TextBox 10"/>
          <p:cNvSpPr/>
          <p:nvPr/>
        </p:nvSpPr>
        <p:spPr>
          <a:xfrm>
            <a:off x="6942600" y="111600"/>
            <a:ext cx="13165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 u="sng">
                <a:solidFill>
                  <a:srgbClr val="0000ff"/>
                </a:solidFill>
                <a:uFillTx/>
                <a:latin typeface="Calibri"/>
                <a:hlinkClick r:id="rId2"/>
              </a:rPr>
              <a:t>Web Link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 #9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72" name="Rounded Rectangle 11"/>
          <p:cNvSpPr/>
          <p:nvPr/>
        </p:nvSpPr>
        <p:spPr>
          <a:xfrm>
            <a:off x="4419720" y="4648320"/>
            <a:ext cx="1218960" cy="1371240"/>
          </a:xfrm>
          <a:prstGeom prst="roundRect">
            <a:avLst>
              <a:gd name="adj" fmla="val 16667"/>
            </a:avLst>
          </a:prstGeom>
          <a:noFill/>
          <a:ln w="57150">
            <a:solidFill>
              <a:srgbClr val="c0504d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3" name="Content Placeholder 6" descr=""/>
          <p:cNvPicPr/>
          <p:nvPr/>
        </p:nvPicPr>
        <p:blipFill>
          <a:blip r:embed="rId1"/>
          <a:stretch/>
        </p:blipFill>
        <p:spPr>
          <a:xfrm>
            <a:off x="125280" y="-8280"/>
            <a:ext cx="9006120" cy="6754320"/>
          </a:xfrm>
          <a:prstGeom prst="rect">
            <a:avLst/>
          </a:prstGeom>
          <a:ln w="0">
            <a:noFill/>
          </a:ln>
        </p:spPr>
      </p:pic>
      <p:sp>
        <p:nvSpPr>
          <p:cNvPr id="274" name="TextBox 10"/>
          <p:cNvSpPr/>
          <p:nvPr/>
        </p:nvSpPr>
        <p:spPr>
          <a:xfrm>
            <a:off x="7095960" y="111600"/>
            <a:ext cx="154836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 u="sng">
                <a:solidFill>
                  <a:srgbClr val="0000ff"/>
                </a:solidFill>
                <a:uFillTx/>
                <a:latin typeface="Calibri"/>
                <a:hlinkClick r:id="rId2"/>
              </a:rPr>
              <a:t>Web Link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 #108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5" name="Content Placeholder 6" descr=""/>
          <p:cNvPicPr/>
          <p:nvPr/>
        </p:nvPicPr>
        <p:blipFill>
          <a:blip r:embed="rId1"/>
          <a:stretch/>
        </p:blipFill>
        <p:spPr>
          <a:xfrm>
            <a:off x="125280" y="-8280"/>
            <a:ext cx="9006120" cy="6754320"/>
          </a:xfrm>
          <a:prstGeom prst="rect">
            <a:avLst/>
          </a:prstGeom>
          <a:ln w="0">
            <a:noFill/>
          </a:ln>
        </p:spPr>
      </p:pic>
      <p:sp>
        <p:nvSpPr>
          <p:cNvPr id="276" name="TextBox 10"/>
          <p:cNvSpPr/>
          <p:nvPr/>
        </p:nvSpPr>
        <p:spPr>
          <a:xfrm>
            <a:off x="7324560" y="18360"/>
            <a:ext cx="154836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 u="sng">
                <a:solidFill>
                  <a:srgbClr val="0000ff"/>
                </a:solidFill>
                <a:uFillTx/>
                <a:latin typeface="Calibri"/>
                <a:hlinkClick r:id="rId2"/>
              </a:rPr>
              <a:t>Web Link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 #179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7" name="Content Placeholder 6" descr=""/>
          <p:cNvPicPr/>
          <p:nvPr/>
        </p:nvPicPr>
        <p:blipFill>
          <a:blip r:embed="rId1"/>
          <a:stretch/>
        </p:blipFill>
        <p:spPr>
          <a:xfrm>
            <a:off x="125280" y="-8280"/>
            <a:ext cx="9006120" cy="6754320"/>
          </a:xfrm>
          <a:prstGeom prst="rect">
            <a:avLst/>
          </a:prstGeom>
          <a:ln w="0">
            <a:noFill/>
          </a:ln>
        </p:spPr>
      </p:pic>
      <p:sp>
        <p:nvSpPr>
          <p:cNvPr id="278" name="TextBox 10"/>
          <p:cNvSpPr/>
          <p:nvPr/>
        </p:nvSpPr>
        <p:spPr>
          <a:xfrm>
            <a:off x="7552080" y="124560"/>
            <a:ext cx="13165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 u="sng">
                <a:solidFill>
                  <a:srgbClr val="0000ff"/>
                </a:solidFill>
                <a:uFillTx/>
                <a:latin typeface="Calibri"/>
                <a:hlinkClick r:id="rId2"/>
              </a:rPr>
              <a:t>Web Link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 #7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Title 3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0000"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Some Weather Variables to Monitor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0" name="TextBox 4"/>
          <p:cNvSpPr/>
          <p:nvPr/>
        </p:nvSpPr>
        <p:spPr>
          <a:xfrm>
            <a:off x="1698120" y="2133720"/>
            <a:ext cx="5189040" cy="283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3600" spc="-1" strike="noStrike">
                <a:solidFill>
                  <a:srgbClr val="c4bd97"/>
                </a:solidFill>
                <a:latin typeface="Calibri"/>
              </a:rPr>
              <a:t>Growing Degree Days</a:t>
            </a:r>
            <a:endParaRPr b="0" lang="en-US" sz="3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3600" spc="-1" strike="noStrike">
                <a:solidFill>
                  <a:srgbClr val="000000"/>
                </a:solidFill>
                <a:latin typeface="Calibri"/>
              </a:rPr>
              <a:t>Temperatures</a:t>
            </a:r>
            <a:endParaRPr b="0" lang="en-US" sz="3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3600" spc="-1" strike="noStrike">
                <a:solidFill>
                  <a:srgbClr val="c4bd97"/>
                </a:solidFill>
                <a:latin typeface="Calibri"/>
              </a:rPr>
              <a:t>Soil Moisture/Temperature</a:t>
            </a:r>
            <a:endParaRPr b="0" lang="en-US" sz="3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3600" spc="-1" strike="noStrike">
                <a:solidFill>
                  <a:srgbClr val="c4bd97"/>
                </a:solidFill>
                <a:latin typeface="Calibri"/>
              </a:rPr>
              <a:t>Precipitation</a:t>
            </a:r>
            <a:endParaRPr b="0" lang="en-US" sz="3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3600" spc="-1" strike="noStrike">
                <a:solidFill>
                  <a:srgbClr val="c4bd97"/>
                </a:solidFill>
                <a:latin typeface="Calibri"/>
              </a:rPr>
              <a:t>Wind</a:t>
            </a:r>
            <a:endParaRPr b="0" lang="en-US" sz="3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1" name="Picture 13" descr=""/>
          <p:cNvPicPr/>
          <p:nvPr/>
        </p:nvPicPr>
        <p:blipFill>
          <a:blip r:embed="rId1"/>
          <a:stretch/>
        </p:blipFill>
        <p:spPr>
          <a:xfrm>
            <a:off x="0" y="0"/>
            <a:ext cx="9143640" cy="6857640"/>
          </a:xfrm>
          <a:prstGeom prst="rect">
            <a:avLst/>
          </a:prstGeom>
          <a:ln w="0">
            <a:noFill/>
          </a:ln>
        </p:spPr>
      </p:pic>
      <p:sp>
        <p:nvSpPr>
          <p:cNvPr id="282" name="TextBox 7"/>
          <p:cNvSpPr/>
          <p:nvPr/>
        </p:nvSpPr>
        <p:spPr>
          <a:xfrm>
            <a:off x="6141240" y="6398640"/>
            <a:ext cx="143244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 u="sng">
                <a:solidFill>
                  <a:srgbClr val="0000ff"/>
                </a:solidFill>
                <a:uFillTx/>
                <a:latin typeface="Calibri"/>
                <a:hlinkClick r:id="rId2"/>
              </a:rPr>
              <a:t>Web Link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 #32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83" name="Rounded Rectangle 9"/>
          <p:cNvSpPr/>
          <p:nvPr/>
        </p:nvSpPr>
        <p:spPr>
          <a:xfrm>
            <a:off x="5181480" y="1981080"/>
            <a:ext cx="1904760" cy="2895120"/>
          </a:xfrm>
          <a:prstGeom prst="roundRect">
            <a:avLst>
              <a:gd name="adj" fmla="val 16667"/>
            </a:avLst>
          </a:prstGeom>
          <a:noFill/>
          <a:ln w="57150">
            <a:solidFill>
              <a:srgbClr val="000000">
                <a:lumMod val="95000"/>
                <a:lumOff val="5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4" name="Content Placeholder 6" descr=""/>
          <p:cNvPicPr/>
          <p:nvPr/>
        </p:nvPicPr>
        <p:blipFill>
          <a:blip r:embed="rId1"/>
          <a:stretch/>
        </p:blipFill>
        <p:spPr>
          <a:xfrm>
            <a:off x="125280" y="-8280"/>
            <a:ext cx="9006120" cy="6754320"/>
          </a:xfrm>
          <a:prstGeom prst="rect">
            <a:avLst/>
          </a:prstGeom>
          <a:ln w="0">
            <a:noFill/>
          </a:ln>
        </p:spPr>
      </p:pic>
      <p:sp>
        <p:nvSpPr>
          <p:cNvPr id="285" name="TextBox 10"/>
          <p:cNvSpPr/>
          <p:nvPr/>
        </p:nvSpPr>
        <p:spPr>
          <a:xfrm>
            <a:off x="5647320" y="6377400"/>
            <a:ext cx="143244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 u="sng">
                <a:solidFill>
                  <a:srgbClr val="0000ff"/>
                </a:solidFill>
                <a:uFillTx/>
                <a:latin typeface="Calibri"/>
                <a:hlinkClick r:id="rId2"/>
              </a:rPr>
              <a:t>Web Link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 #23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" name="Content Placeholder 6" descr=""/>
          <p:cNvPicPr/>
          <p:nvPr/>
        </p:nvPicPr>
        <p:blipFill>
          <a:blip r:embed="rId1"/>
          <a:stretch/>
        </p:blipFill>
        <p:spPr>
          <a:xfrm>
            <a:off x="625680" y="367200"/>
            <a:ext cx="8005320" cy="6004080"/>
          </a:xfrm>
          <a:prstGeom prst="rect">
            <a:avLst/>
          </a:prstGeom>
          <a:ln w="0">
            <a:noFill/>
          </a:ln>
        </p:spPr>
      </p:pic>
      <p:sp>
        <p:nvSpPr>
          <p:cNvPr id="287" name="TextBox 10"/>
          <p:cNvSpPr/>
          <p:nvPr/>
        </p:nvSpPr>
        <p:spPr>
          <a:xfrm>
            <a:off x="6790320" y="5334120"/>
            <a:ext cx="143244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 u="sng">
                <a:solidFill>
                  <a:srgbClr val="0000ff"/>
                </a:solidFill>
                <a:uFillTx/>
                <a:latin typeface="Calibri"/>
                <a:hlinkClick r:id="rId2"/>
              </a:rPr>
              <a:t>Web Link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 #93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Title 3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0000"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Some Weather Variables to Monitor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9" name="TextBox 4"/>
          <p:cNvSpPr/>
          <p:nvPr/>
        </p:nvSpPr>
        <p:spPr>
          <a:xfrm>
            <a:off x="1698120" y="2133720"/>
            <a:ext cx="5189040" cy="283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3600" spc="-1" strike="noStrike">
                <a:solidFill>
                  <a:srgbClr val="c4bd97"/>
                </a:solidFill>
                <a:latin typeface="Calibri"/>
              </a:rPr>
              <a:t>Growing Degree Days</a:t>
            </a:r>
            <a:endParaRPr b="0" lang="en-US" sz="3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3600" spc="-1" strike="noStrike">
                <a:solidFill>
                  <a:srgbClr val="c4bd97"/>
                </a:solidFill>
                <a:latin typeface="Calibri"/>
              </a:rPr>
              <a:t>Temperatures</a:t>
            </a:r>
            <a:endParaRPr b="0" lang="en-US" sz="3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3600" spc="-1" strike="noStrike">
                <a:solidFill>
                  <a:srgbClr val="000000"/>
                </a:solidFill>
                <a:latin typeface="Calibri"/>
              </a:rPr>
              <a:t>Soil Moisture/Temperature</a:t>
            </a:r>
            <a:endParaRPr b="0" lang="en-US" sz="3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3600" spc="-1" strike="noStrike">
                <a:solidFill>
                  <a:srgbClr val="c4bd97"/>
                </a:solidFill>
                <a:latin typeface="Calibri"/>
              </a:rPr>
              <a:t>Precipitation</a:t>
            </a:r>
            <a:endParaRPr b="0" lang="en-US" sz="3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3600" spc="-1" strike="noStrike">
                <a:solidFill>
                  <a:srgbClr val="c4bd97"/>
                </a:solidFill>
                <a:latin typeface="Calibri"/>
              </a:rPr>
              <a:t>Wind</a:t>
            </a:r>
            <a:endParaRPr b="0" lang="en-US" sz="3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0" name="Content Placeholder 6" descr=""/>
          <p:cNvPicPr/>
          <p:nvPr/>
        </p:nvPicPr>
        <p:blipFill>
          <a:blip r:embed="rId1"/>
          <a:stretch/>
        </p:blipFill>
        <p:spPr>
          <a:xfrm>
            <a:off x="125280" y="-8280"/>
            <a:ext cx="9006120" cy="6754320"/>
          </a:xfrm>
          <a:prstGeom prst="rect">
            <a:avLst/>
          </a:prstGeom>
          <a:ln w="0">
            <a:noFill/>
          </a:ln>
        </p:spPr>
      </p:pic>
      <p:sp>
        <p:nvSpPr>
          <p:cNvPr id="291" name="TextBox 10"/>
          <p:cNvSpPr/>
          <p:nvPr/>
        </p:nvSpPr>
        <p:spPr>
          <a:xfrm>
            <a:off x="5495760" y="6377400"/>
            <a:ext cx="154836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 u="sng">
                <a:solidFill>
                  <a:srgbClr val="0000ff"/>
                </a:solidFill>
                <a:uFillTx/>
                <a:latin typeface="Calibri"/>
                <a:hlinkClick r:id="rId2"/>
              </a:rPr>
              <a:t>Web Link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 #177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2" name="Content Placeholder 6" descr=""/>
          <p:cNvPicPr/>
          <p:nvPr/>
        </p:nvPicPr>
        <p:blipFill>
          <a:blip r:embed="rId1"/>
          <a:stretch/>
        </p:blipFill>
        <p:spPr>
          <a:xfrm>
            <a:off x="125280" y="-8280"/>
            <a:ext cx="9006120" cy="6754320"/>
          </a:xfrm>
          <a:prstGeom prst="rect">
            <a:avLst/>
          </a:prstGeom>
          <a:ln w="0">
            <a:noFill/>
          </a:ln>
        </p:spPr>
      </p:pic>
      <p:sp>
        <p:nvSpPr>
          <p:cNvPr id="293" name="TextBox 10"/>
          <p:cNvSpPr/>
          <p:nvPr/>
        </p:nvSpPr>
        <p:spPr>
          <a:xfrm>
            <a:off x="6559560" y="6379920"/>
            <a:ext cx="103464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 u="sng">
                <a:solidFill>
                  <a:srgbClr val="0000ff"/>
                </a:solidFill>
                <a:uFillTx/>
                <a:latin typeface="Calibri"/>
                <a:hlinkClick r:id="rId2"/>
              </a:rPr>
              <a:t>Web Link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4" name="Content Placeholder 6" descr=""/>
          <p:cNvPicPr/>
          <p:nvPr/>
        </p:nvPicPr>
        <p:blipFill>
          <a:blip r:embed="rId1"/>
          <a:stretch/>
        </p:blipFill>
        <p:spPr>
          <a:xfrm>
            <a:off x="125280" y="-8280"/>
            <a:ext cx="9006120" cy="6754320"/>
          </a:xfrm>
          <a:prstGeom prst="rect">
            <a:avLst/>
          </a:prstGeom>
          <a:ln w="0">
            <a:noFill/>
          </a:ln>
        </p:spPr>
      </p:pic>
      <p:sp>
        <p:nvSpPr>
          <p:cNvPr id="295" name="TextBox 10"/>
          <p:cNvSpPr/>
          <p:nvPr/>
        </p:nvSpPr>
        <p:spPr>
          <a:xfrm>
            <a:off x="5724360" y="6377400"/>
            <a:ext cx="154836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 u="sng">
                <a:solidFill>
                  <a:srgbClr val="0000ff"/>
                </a:solidFill>
                <a:uFillTx/>
                <a:latin typeface="Calibri"/>
                <a:hlinkClick r:id="rId2"/>
              </a:rPr>
              <a:t>Web Link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 #177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Title 3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0000"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Some Weather Variables to Monitor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7" name="TextBox 4"/>
          <p:cNvSpPr/>
          <p:nvPr/>
        </p:nvSpPr>
        <p:spPr>
          <a:xfrm>
            <a:off x="1698120" y="2133720"/>
            <a:ext cx="5189040" cy="283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3600" spc="-1" strike="noStrike">
                <a:solidFill>
                  <a:srgbClr val="c4bd97"/>
                </a:solidFill>
                <a:latin typeface="Calibri"/>
              </a:rPr>
              <a:t>Growing Degree Days</a:t>
            </a:r>
            <a:endParaRPr b="0" lang="en-US" sz="3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3600" spc="-1" strike="noStrike">
                <a:solidFill>
                  <a:srgbClr val="c4bd97"/>
                </a:solidFill>
                <a:latin typeface="Calibri"/>
              </a:rPr>
              <a:t>Temperatures</a:t>
            </a:r>
            <a:endParaRPr b="0" lang="en-US" sz="3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3600" spc="-1" strike="noStrike">
                <a:solidFill>
                  <a:srgbClr val="c4bd97"/>
                </a:solidFill>
                <a:latin typeface="Calibri"/>
              </a:rPr>
              <a:t>Soil Moisture/Temperature</a:t>
            </a:r>
            <a:endParaRPr b="0" lang="en-US" sz="3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3600" spc="-1" strike="noStrike">
                <a:solidFill>
                  <a:srgbClr val="000000"/>
                </a:solidFill>
                <a:latin typeface="Calibri"/>
              </a:rPr>
              <a:t>Precipitation</a:t>
            </a:r>
            <a:endParaRPr b="0" lang="en-US" sz="3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3600" spc="-1" strike="noStrike">
                <a:solidFill>
                  <a:srgbClr val="c4bd97"/>
                </a:solidFill>
                <a:latin typeface="Calibri"/>
              </a:rPr>
              <a:t>Wind</a:t>
            </a:r>
            <a:endParaRPr b="0" lang="en-US" sz="3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8" name="Content Placeholder 6" descr=""/>
          <p:cNvPicPr/>
          <p:nvPr/>
        </p:nvPicPr>
        <p:blipFill>
          <a:blip r:embed="rId1"/>
          <a:stretch/>
        </p:blipFill>
        <p:spPr>
          <a:xfrm>
            <a:off x="125280" y="-8280"/>
            <a:ext cx="9006120" cy="6754320"/>
          </a:xfrm>
          <a:prstGeom prst="rect">
            <a:avLst/>
          </a:prstGeom>
          <a:ln w="0">
            <a:noFill/>
          </a:ln>
        </p:spPr>
      </p:pic>
      <p:sp>
        <p:nvSpPr>
          <p:cNvPr id="299" name="TextBox 10"/>
          <p:cNvSpPr/>
          <p:nvPr/>
        </p:nvSpPr>
        <p:spPr>
          <a:xfrm>
            <a:off x="4961520" y="6412320"/>
            <a:ext cx="143244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 u="sng">
                <a:solidFill>
                  <a:srgbClr val="0000ff"/>
                </a:solidFill>
                <a:uFillTx/>
                <a:latin typeface="Calibri"/>
                <a:hlinkClick r:id="rId2"/>
              </a:rPr>
              <a:t>Web Link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 #84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" name="Content Placeholder 6" descr=""/>
          <p:cNvPicPr/>
          <p:nvPr/>
        </p:nvPicPr>
        <p:blipFill>
          <a:blip r:embed="rId1"/>
          <a:stretch/>
        </p:blipFill>
        <p:spPr>
          <a:xfrm>
            <a:off x="125280" y="-8280"/>
            <a:ext cx="9006120" cy="6754320"/>
          </a:xfrm>
          <a:prstGeom prst="rect">
            <a:avLst/>
          </a:prstGeom>
          <a:ln w="0">
            <a:noFill/>
          </a:ln>
        </p:spPr>
      </p:pic>
      <p:sp>
        <p:nvSpPr>
          <p:cNvPr id="301" name="TextBox 10"/>
          <p:cNvSpPr/>
          <p:nvPr/>
        </p:nvSpPr>
        <p:spPr>
          <a:xfrm>
            <a:off x="4961520" y="6412320"/>
            <a:ext cx="143244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 u="sng">
                <a:solidFill>
                  <a:srgbClr val="0000ff"/>
                </a:solidFill>
                <a:uFillTx/>
                <a:latin typeface="Calibri"/>
                <a:hlinkClick r:id="rId2"/>
              </a:rPr>
              <a:t>Web Link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 #84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Title 3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0000"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Some Weather Variables to Monitor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3" name="TextBox 4"/>
          <p:cNvSpPr/>
          <p:nvPr/>
        </p:nvSpPr>
        <p:spPr>
          <a:xfrm>
            <a:off x="1698120" y="2133720"/>
            <a:ext cx="5189040" cy="283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3600" spc="-1" strike="noStrike">
                <a:solidFill>
                  <a:srgbClr val="c4bd97"/>
                </a:solidFill>
                <a:latin typeface="Calibri"/>
              </a:rPr>
              <a:t>Growing Degree Days</a:t>
            </a:r>
            <a:endParaRPr b="0" lang="en-US" sz="3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3600" spc="-1" strike="noStrike">
                <a:solidFill>
                  <a:srgbClr val="c4bd97"/>
                </a:solidFill>
                <a:latin typeface="Calibri"/>
              </a:rPr>
              <a:t>Temperatures</a:t>
            </a:r>
            <a:endParaRPr b="0" lang="en-US" sz="3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3600" spc="-1" strike="noStrike">
                <a:solidFill>
                  <a:srgbClr val="c4bd97"/>
                </a:solidFill>
                <a:latin typeface="Calibri"/>
              </a:rPr>
              <a:t>Soil Moisture/Temperature</a:t>
            </a:r>
            <a:endParaRPr b="0" lang="en-US" sz="3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3600" spc="-1" strike="noStrike">
                <a:solidFill>
                  <a:srgbClr val="c4bd97"/>
                </a:solidFill>
                <a:latin typeface="Calibri"/>
              </a:rPr>
              <a:t>Precipitation</a:t>
            </a:r>
            <a:endParaRPr b="0" lang="en-US" sz="3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3600" spc="-1" strike="noStrike">
                <a:solidFill>
                  <a:srgbClr val="000000"/>
                </a:solidFill>
                <a:latin typeface="Calibri"/>
              </a:rPr>
              <a:t>Wind</a:t>
            </a:r>
            <a:endParaRPr b="0" lang="en-US" sz="3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4" name="Content Placeholder 6" descr=""/>
          <p:cNvPicPr/>
          <p:nvPr/>
        </p:nvPicPr>
        <p:blipFill>
          <a:blip r:embed="rId1"/>
          <a:stretch/>
        </p:blipFill>
        <p:spPr>
          <a:xfrm>
            <a:off x="125280" y="-8280"/>
            <a:ext cx="9006120" cy="6754320"/>
          </a:xfrm>
          <a:prstGeom prst="rect">
            <a:avLst/>
          </a:prstGeom>
          <a:ln w="0">
            <a:noFill/>
          </a:ln>
        </p:spPr>
      </p:pic>
      <p:sp>
        <p:nvSpPr>
          <p:cNvPr id="305" name="TextBox 10"/>
          <p:cNvSpPr/>
          <p:nvPr/>
        </p:nvSpPr>
        <p:spPr>
          <a:xfrm>
            <a:off x="6370560" y="159840"/>
            <a:ext cx="154836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 u="sng">
                <a:solidFill>
                  <a:srgbClr val="0000ff"/>
                </a:solidFill>
                <a:uFillTx/>
                <a:latin typeface="Calibri"/>
                <a:hlinkClick r:id="rId2"/>
              </a:rPr>
              <a:t>Web Link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 #173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306" name="Rounded Rectangle 5"/>
          <p:cNvSpPr/>
          <p:nvPr/>
        </p:nvSpPr>
        <p:spPr>
          <a:xfrm>
            <a:off x="3200400" y="1676520"/>
            <a:ext cx="1218960" cy="3809520"/>
          </a:xfrm>
          <a:prstGeom prst="roundRect">
            <a:avLst>
              <a:gd name="adj" fmla="val 16667"/>
            </a:avLst>
          </a:prstGeom>
          <a:noFill/>
          <a:ln w="57150">
            <a:solidFill>
              <a:srgbClr val="8064a2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07" name="Rounded Rectangle 8"/>
          <p:cNvSpPr/>
          <p:nvPr/>
        </p:nvSpPr>
        <p:spPr>
          <a:xfrm>
            <a:off x="6885000" y="1066680"/>
            <a:ext cx="1267920" cy="4419360"/>
          </a:xfrm>
          <a:prstGeom prst="roundRect">
            <a:avLst>
              <a:gd name="adj" fmla="val 16667"/>
            </a:avLst>
          </a:prstGeom>
          <a:noFill/>
          <a:ln w="57150">
            <a:solidFill>
              <a:srgbClr val="8064a2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Title 3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February vs August Wind Rose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309" name="Content Placeholder 6" descr=""/>
          <p:cNvPicPr/>
          <p:nvPr/>
        </p:nvPicPr>
        <p:blipFill>
          <a:blip r:embed="rId1"/>
          <a:stretch/>
        </p:blipFill>
        <p:spPr>
          <a:xfrm>
            <a:off x="457200" y="1843920"/>
            <a:ext cx="4038120" cy="4038120"/>
          </a:xfrm>
          <a:prstGeom prst="rect">
            <a:avLst/>
          </a:prstGeom>
          <a:ln w="0">
            <a:noFill/>
          </a:ln>
        </p:spPr>
      </p:pic>
      <p:pic>
        <p:nvPicPr>
          <p:cNvPr id="310" name="Content Placeholder 7" descr=""/>
          <p:cNvPicPr/>
          <p:nvPr/>
        </p:nvPicPr>
        <p:blipFill>
          <a:blip r:embed="rId2"/>
          <a:stretch/>
        </p:blipFill>
        <p:spPr>
          <a:xfrm>
            <a:off x="4648320" y="1843920"/>
            <a:ext cx="4038120" cy="4038120"/>
          </a:xfrm>
          <a:prstGeom prst="rect">
            <a:avLst/>
          </a:prstGeom>
          <a:ln w="0">
            <a:noFill/>
          </a:ln>
        </p:spPr>
      </p:pic>
      <p:sp>
        <p:nvSpPr>
          <p:cNvPr id="311" name="TextBox 8"/>
          <p:cNvSpPr/>
          <p:nvPr/>
        </p:nvSpPr>
        <p:spPr>
          <a:xfrm>
            <a:off x="3987360" y="6019920"/>
            <a:ext cx="103464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 u="sng">
                <a:solidFill>
                  <a:srgbClr val="0000ff"/>
                </a:solidFill>
                <a:uFillTx/>
                <a:latin typeface="Calibri"/>
                <a:hlinkClick r:id="rId3"/>
              </a:rPr>
              <a:t>Web Link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Title 4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Putting it all Together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313" name="Content Placeholder 7" descr=""/>
          <p:cNvPicPr/>
          <p:nvPr/>
        </p:nvPicPr>
        <p:blipFill>
          <a:blip r:embed="rId1"/>
          <a:stretch/>
        </p:blipFill>
        <p:spPr>
          <a:xfrm>
            <a:off x="0" y="1371600"/>
            <a:ext cx="9144000" cy="5029200"/>
          </a:xfrm>
          <a:prstGeom prst="rect">
            <a:avLst/>
          </a:prstGeom>
          <a:ln w="0">
            <a:noFill/>
          </a:ln>
        </p:spPr>
      </p:pic>
      <p:sp>
        <p:nvSpPr>
          <p:cNvPr id="314" name="TextBox 8"/>
          <p:cNvSpPr/>
          <p:nvPr/>
        </p:nvSpPr>
        <p:spPr>
          <a:xfrm>
            <a:off x="7471440" y="1324080"/>
            <a:ext cx="67788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2400" spc="-1" strike="noStrike" u="sng">
                <a:solidFill>
                  <a:srgbClr val="0000ff"/>
                </a:solidFill>
                <a:uFillTx/>
                <a:latin typeface="Calibri"/>
                <a:hlinkClick r:id="rId2"/>
              </a:rPr>
              <a:t>Link</a:t>
            </a: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Title 3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Task 1: Using IEM Explorer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6" name="Content Placeholder 4"/>
          <p:cNvSpPr txBox="1"/>
          <p:nvPr/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For your location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Find nearest long term climate site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Find nearest airport weather station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Play around with various popular content links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Title 3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Task 2: TPS Reports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8" name="Content Placeholder 4"/>
          <p:cNvSpPr txBox="1"/>
          <p:nvPr/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p>
            <a:pPr>
              <a:lnSpc>
                <a:spcPct val="100000"/>
              </a:lnSpc>
              <a:spcBef>
                <a:spcPts val="561"/>
              </a:spcBef>
              <a:tabLst>
                <a:tab algn="l" pos="0"/>
              </a:tabLst>
            </a:pPr>
            <a:r>
              <a:rPr b="1" lang="en-US" sz="2800" spc="-1" strike="noStrike">
                <a:solidFill>
                  <a:srgbClr val="ff0000"/>
                </a:solidFill>
                <a:latin typeface="Calibri"/>
              </a:rPr>
              <a:t>T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emperature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561"/>
              </a:spcBef>
              <a:tabLst>
                <a:tab algn="l" pos="0"/>
              </a:tabLst>
            </a:pPr>
            <a:r>
              <a:rPr b="1" lang="en-US" sz="2800" spc="-1" strike="noStrike">
                <a:solidFill>
                  <a:srgbClr val="ff0000"/>
                </a:solidFill>
                <a:latin typeface="Calibri"/>
              </a:rPr>
              <a:t>P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recipitation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561"/>
              </a:spcBef>
              <a:tabLst>
                <a:tab algn="l" pos="0"/>
              </a:tabLst>
            </a:pPr>
            <a:r>
              <a:rPr b="1" lang="en-US" sz="2800" spc="-1" strike="noStrike">
                <a:solidFill>
                  <a:srgbClr val="ff0000"/>
                </a:solidFill>
                <a:latin typeface="Calibri"/>
              </a:rPr>
              <a:t>S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now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561"/>
              </a:spcBef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272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Determine the July 2026 precipitation total and departure from average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319" name="Content Placeholder 7" descr=""/>
          <p:cNvPicPr/>
          <p:nvPr/>
        </p:nvPicPr>
        <p:blipFill>
          <a:blip r:embed="rId1"/>
          <a:stretch/>
        </p:blipFill>
        <p:spPr>
          <a:xfrm>
            <a:off x="4629240" y="2442960"/>
            <a:ext cx="3885840" cy="2829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" dur="500" fill="hold"/>
                                        <p:tgtEl>
                                          <p:spTgt spid="3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" dur="500" fill="hold"/>
                                        <p:tgtEl>
                                          <p:spTgt spid="3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Title 4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Task 3: Growing Season Totals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1" name="Content Placeholder 5"/>
          <p:cNvSpPr txBox="1"/>
          <p:nvPr/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Generate a map of 22 April to 22 August total precipitation for 2012 and 2026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Title 1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Task 4: Soil Temperatures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3" name="Content Placeholder 2"/>
          <p:cNvSpPr txBox="1"/>
          <p:nvPr/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Find a map of Iowa soil temperatures on 1 May 2026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Download the raw observations from the ISU Soil Moisture Network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Title 1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Task 5: Solar Radiation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5" name="Content Placeholder 2"/>
          <p:cNvSpPr txBox="1"/>
          <p:nvPr/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Download daily solar radiation estimates from NWS COOP sites for 2026 into Excel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Generate chart of daily observations from ISU Soil Moisture Network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Title 1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Task 6: IEM Autoplot Chart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7" name="Content Placeholder 2"/>
          <p:cNvSpPr txBox="1"/>
          <p:nvPr/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Find a chart of Ni</a:t>
            </a:r>
            <a:r>
              <a:rPr b="0" lang="en-US" sz="3200" spc="-1" strike="noStrike">
                <a:solidFill>
                  <a:srgbClr val="000000"/>
                </a:solidFill>
                <a:latin typeface="Cascadia Code"/>
              </a:rPr>
              <a:t>n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o 3.4 index and Iowa precipitation departures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Download the raw data from the chart into Excel for further analysis.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Title 1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Task 7: NWS Warning Information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9" name="Content Placeholder 2"/>
          <p:cNvSpPr txBox="1"/>
          <p:nvPr/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My mom’s farm took damage on 28 June 2017.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Go find NWS Warning information and storm reports for the event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Step through RADAR maps to see the timing of the storm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Title 1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Task 8: Wind Roses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1" name="Content Placeholder 2"/>
          <p:cNvSpPr txBox="1"/>
          <p:nvPr/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Generate a wind rose for the day of 14 June 2026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Check out the pre-generated monthly/annual climatology plots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Title 1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Fun Task 1: Webcam Archive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3" name="Content Placeholder 2"/>
          <p:cNvSpPr txBox="1"/>
          <p:nvPr/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How did things look during the blizzard of 4 February 2021 around noon?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Check out akrherz’s YouTube Channel for fancy loops.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Title 1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0000"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Fun Task 2: High-Res Precipitation Maps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5" name="Content Placeholder 2"/>
          <p:cNvSpPr txBox="1"/>
          <p:nvPr/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Create a fine scale map of precipitation estimates for 27 August 2022 for Winneshiek County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For the same area, generate a map of departures between 1 July and 25 August 2026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  <a:tabLst>
                <a:tab algn="l" pos="0"/>
              </a:tabLst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Title 3"/>
          <p:cNvSpPr txBox="1"/>
          <p:nvPr/>
        </p:nvSpPr>
        <p:spPr>
          <a:xfrm>
            <a:off x="457200" y="8380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31000"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OK, enough of my rambling…. Questions?</a:t>
            </a:r>
            <a:br/>
            <a:r>
              <a:rPr b="0" lang="en-US" sz="4400" spc="-1" strike="noStrike" u="sng">
                <a:solidFill>
                  <a:srgbClr val="0000ff"/>
                </a:solidFill>
                <a:uFillTx/>
                <a:latin typeface="Calibri"/>
                <a:hlinkClick r:id="rId1"/>
              </a:rPr>
              <a:t>https://mesonet.agron.iastate.edu</a:t>
            </a:r>
            <a:br/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“Info” Tab -&gt; Presentations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337" name="Content Placeholder 6" descr=""/>
          <p:cNvPicPr/>
          <p:nvPr/>
        </p:nvPicPr>
        <p:blipFill>
          <a:blip r:embed="rId2"/>
          <a:stretch/>
        </p:blipFill>
        <p:spPr>
          <a:xfrm>
            <a:off x="1178280" y="2747160"/>
            <a:ext cx="2723400" cy="3196080"/>
          </a:xfrm>
          <a:prstGeom prst="rect">
            <a:avLst/>
          </a:prstGeom>
          <a:ln w="0">
            <a:noFill/>
          </a:ln>
        </p:spPr>
      </p:pic>
      <p:sp>
        <p:nvSpPr>
          <p:cNvPr id="338" name="Content Placeholder 5"/>
          <p:cNvSpPr txBox="1"/>
          <p:nvPr/>
        </p:nvSpPr>
        <p:spPr>
          <a:xfrm>
            <a:off x="4648320" y="3117240"/>
            <a:ext cx="4266720" cy="22856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p>
            <a:pPr marL="343080" indent="-34272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Twitter: @akrherz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272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akrherz@iastate.edu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272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515-451-9249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1970</TotalTime>
  <Application>LibreOffice/7.1.8.1$Linux_X86_64 LibreOffice_project/10$Build-1</Application>
  <AppVersion>15.0000</AppVersion>
  <Words>1172</Words>
  <Paragraphs>178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2015-03-27T13:07:26Z</dcterms:created>
  <dc:creator>Daryl Herzmann</dc:creator>
  <dc:description/>
  <dc:language>en-US</dc:language>
  <cp:lastModifiedBy/>
  <dcterms:modified xsi:type="dcterms:W3CDTF">2026-08-25T10:02:58Z</dcterms:modified>
  <cp:revision>98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  <property fmtid="{D5CDD505-2E9C-101B-9397-08002B2CF9AE}" pid="3" name="Slides">
    <vt:i4>47</vt:i4>
  </property>
</Properties>
</file>